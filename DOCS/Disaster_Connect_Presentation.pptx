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0"/>
                </a:solidFill>
                <a:latin typeface="Calibri"/>
              </a:defRPr>
            </a:pPr>
            <a:r>
              <a:rPr sz="1400" b="0" i="0" u="none" strike="noStrike">
                <a:solidFill>
                  <a:srgbClr val="0F2530"/>
                </a:solidFill>
                <a:latin typeface="Calibri"/>
              </a:rPr>
              <a:t>Twenty readings: nineteen quiet, one shock</a:t>
            </a:r>
          </a:p>
        </c:rich>
      </c:tx>
      <c:layout/>
      <c:overlay val="0"/>
    </c:title>
    <c:autoTitleDeleted val="0"/>
    <c:plotArea>
      <c:layout/>
      <c:barChart>
        <c:barDir val="col"/>
        <c:grouping val="clustered"/>
        <c:varyColors val="0"/>
        <c:ser>
          <c:idx val="0"/>
          <c:order val="0"/>
          <c:tx>
            <c:strRef>
              <c:f>Sheet1!$B$1</c:f>
              <c:strCache>
                <c:ptCount val="1"/>
                <c:pt idx="0">
                  <c:v>Vibration (g)</c:v>
                </c:pt>
              </c:strCache>
            </c:strRef>
          </c:tx>
          <c:spPr>
            <a:solidFill>
              <a:srgbClr val="C8401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A5B69"/>
                    </a:solidFill>
                    <a:latin typeface="Arial"/>
                  </a:defRPr>
                </a:pPr>
                <a:r>
                  <a:rPr sz="1100" b="0" i="0" u="none" strike="noStrike">
                    <a:solidFill>
                      <a:srgbClr val="4A5B69"/>
                    </a:solidFill>
                    <a:latin typeface="Arial"/>
                  </a:rPr>
                  <a:t>reading number (newest on the right)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B69"/>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9525" cap="flat">
              <a:solidFill>
                <a:srgbClr val="CFD8E0"/>
              </a:solidFill>
              <a:prstDash val="solid"/>
              <a:round/>
            </a:ln>
          </c:spPr>
        </c:majorGridlines>
        <c:title>
          <c:tx>
            <c:rich>
              <a:bodyPr/>
              <a:lstStyle/>
              <a:p>
                <a:pPr>
                  <a:defRPr sz="1100" b="0" i="0" u="none" strike="noStrike">
                    <a:solidFill>
                      <a:srgbClr val="4A5B69"/>
                    </a:solidFill>
                    <a:latin typeface="Arial"/>
                  </a:defRPr>
                </a:pPr>
                <a:r>
                  <a:rPr sz="1100" b="0" i="0" u="none" strike="noStrike">
                    <a:solidFill>
                      <a:srgbClr val="4A5B69"/>
                    </a:solidFill>
                    <a:latin typeface="Arial"/>
                  </a:rPr>
                  <a:t>shaking (g)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B69"/>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is a smoke alarm for four natural dangers. It keeps working when the internet does not. Everything in this talk is explained in the report, chapter by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smoke alarm is cheap and works with no Wi-Fi. When a flood or storm hits, phone networks are often the first thing to fail, so we built an alarm that decides locally. Three promises shaped every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danger has a different fingerprint, so each has its own sensor and its own limit. The water sensor points down at the water, so a smaller distance means higher water. The tsunami detector only trusts a coastal tide gauge, never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Sense collects readings, Think turns them into low or high, Act warns people and saves the record, and Show displays it. Dashed boxes are online extras; solid boxes work with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cycle, every five seconds. The program reads, saves, optionally adds weather, runs four detectors, picks the worst result, and only then sends an alert. Every online call has a time limit, so a slow network cannot freeze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detector is a short Python file with a clear yes or no rule. Because the limits are in one settings file, a person can read them, agree or disagree, and tune them for a new place without touching the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 always trembles a little, so a fixed limit is a poor test. STA over LTA compares the last five readings with the long-run average. Nineteen quiet readings then one at 0.5 g gives a ratio of 3.13, which crosses the 3.0 trigger. A reading of 0.3 g gives 2.78 and stays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several dangers are high at once, the headline follows how little time people have to react. The most important safety rule in the project is that rules decide and the AI only rewords the sentence; it can never change low to high or high to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internet is a bonus. The top lane is everything that keeps you safe with no signal. The bottom lane makes alerts richer when a connection exists. Readings taken offline are stored with synced equals zero and caught up when the connection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result is high, one message goes down several channels. Sound and SMS are guaranteed because they need no internet; app push is a bonus. Every alert is saved in SQLite, a whole database in one file. Today the buzzer and SMS channels print what they would do because no real hardware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looks like a phone app but runs in any browser. Five screens. The SOS screen needs no internet at all because the phone can place a call by itself. Plain HTML, CSS and JavaScript keep it small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was picked because it is smaller and simpler than the alternative and keeps working when the internet does not. The complete A to Z list, with what each is and what we chose it instead of, is chapter twelve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programs fail on someone else's computer because they need software installed first. We bundled a small copy of Python and every library into one folder, so the receiver installs nothing. The private settings file and the developer's database are deliberately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at five levels, from a quick import check up to running the zip from a clean folder. Everything that can be checked without real hardware passed. Testing also found real problems, which we fixed, such as a server still running old code and a test form that ignored wind and sea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learning and demonstration project, not an official warning service. The sensors are simulated and SMS is only printed to a log. The next steps are real hardware, a real upload in the sync step, phone push notifications, and having several stations confirm before sounding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simple rules, local first, and every alert explains itself. Thank you. Questions are welcome; the full detail is in the 38-page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30"/>
        </a:solidFill>
      </p:bgPr>
    </p:bg>
    <p:spTree>
      <p:nvGrpSpPr>
        <p:cNvPr id="1" name=""/>
        <p:cNvGrpSpPr/>
        <p:nvPr/>
      </p:nvGrpSpPr>
      <p:grpSpPr>
        <a:xfrm>
          <a:off x="0" y="0"/>
          <a:ext cx="0" cy="0"/>
          <a:chOff x="0" y="0"/>
          <a:chExt cx="0" cy="0"/>
        </a:xfrm>
      </p:grpSpPr>
      <p:sp>
        <p:nvSpPr>
          <p:cNvPr id="3" name="Shape 0"/>
          <p:cNvSpPr/>
          <p:nvPr/>
        </p:nvSpPr>
        <p:spPr>
          <a:xfrm>
            <a:off x="8686800" y="2788920"/>
            <a:ext cx="1280160" cy="1280160"/>
          </a:xfrm>
          <a:prstGeom prst="ellipse">
            <a:avLst/>
          </a:prstGeom>
          <a:solidFill>
            <a:srgbClr val="0F2530">
              <a:alpha val="0"/>
            </a:srgbClr>
          </a:solidFill>
          <a:ln w="19050">
            <a:solidFill>
              <a:srgbClr val="4FC1C9">
                <a:alpha val="75000"/>
              </a:srgbClr>
            </a:solidFill>
            <a:prstDash val="solid"/>
          </a:ln>
        </p:spPr>
      </p:sp>
      <p:sp>
        <p:nvSpPr>
          <p:cNvPr id="4" name="Shape 1"/>
          <p:cNvSpPr/>
          <p:nvPr/>
        </p:nvSpPr>
        <p:spPr>
          <a:xfrm>
            <a:off x="8229600" y="2331720"/>
            <a:ext cx="2194560" cy="2194560"/>
          </a:xfrm>
          <a:prstGeom prst="ellipse">
            <a:avLst/>
          </a:prstGeom>
          <a:solidFill>
            <a:srgbClr val="0F2530">
              <a:alpha val="0"/>
            </a:srgbClr>
          </a:solidFill>
          <a:ln w="19050">
            <a:solidFill>
              <a:srgbClr val="4FC1C9">
                <a:alpha val="60000"/>
              </a:srgbClr>
            </a:solidFill>
            <a:prstDash val="solid"/>
          </a:ln>
        </p:spPr>
      </p:sp>
      <p:sp>
        <p:nvSpPr>
          <p:cNvPr id="5" name="Shape 2"/>
          <p:cNvSpPr/>
          <p:nvPr/>
        </p:nvSpPr>
        <p:spPr>
          <a:xfrm>
            <a:off x="7772400" y="1874520"/>
            <a:ext cx="3108960" cy="3108960"/>
          </a:xfrm>
          <a:prstGeom prst="ellipse">
            <a:avLst/>
          </a:prstGeom>
          <a:solidFill>
            <a:srgbClr val="0F2530">
              <a:alpha val="0"/>
            </a:srgbClr>
          </a:solidFill>
          <a:ln w="19050">
            <a:solidFill>
              <a:srgbClr val="4FC1C9">
                <a:alpha val="45000"/>
              </a:srgbClr>
            </a:solidFill>
            <a:prstDash val="solid"/>
          </a:ln>
        </p:spPr>
      </p:sp>
      <p:sp>
        <p:nvSpPr>
          <p:cNvPr id="6" name="Shape 3"/>
          <p:cNvSpPr/>
          <p:nvPr/>
        </p:nvSpPr>
        <p:spPr>
          <a:xfrm>
            <a:off x="7315200" y="1417320"/>
            <a:ext cx="4023360" cy="4023360"/>
          </a:xfrm>
          <a:prstGeom prst="ellipse">
            <a:avLst/>
          </a:prstGeom>
          <a:solidFill>
            <a:srgbClr val="0F2530">
              <a:alpha val="0"/>
            </a:srgbClr>
          </a:solidFill>
          <a:ln w="19050">
            <a:solidFill>
              <a:srgbClr val="4FC1C9">
                <a:alpha val="30000"/>
              </a:srgbClr>
            </a:solidFill>
            <a:prstDash val="solid"/>
          </a:ln>
        </p:spPr>
      </p:sp>
      <p:sp>
        <p:nvSpPr>
          <p:cNvPr id="7" name="Shape 4"/>
          <p:cNvSpPr/>
          <p:nvPr/>
        </p:nvSpPr>
        <p:spPr>
          <a:xfrm>
            <a:off x="6858000" y="960120"/>
            <a:ext cx="4937760" cy="4937760"/>
          </a:xfrm>
          <a:prstGeom prst="ellipse">
            <a:avLst/>
          </a:prstGeom>
          <a:solidFill>
            <a:srgbClr val="0F2530">
              <a:alpha val="0"/>
            </a:srgbClr>
          </a:solidFill>
          <a:ln w="19050">
            <a:solidFill>
              <a:srgbClr val="4FC1C9">
                <a:alpha val="18000"/>
              </a:srgbClr>
            </a:solidFill>
            <a:prstDash val="solid"/>
          </a:ln>
        </p:spPr>
      </p:sp>
      <p:sp>
        <p:nvSpPr>
          <p:cNvPr id="8" name="Shape 5"/>
          <p:cNvSpPr/>
          <p:nvPr/>
        </p:nvSpPr>
        <p:spPr>
          <a:xfrm>
            <a:off x="6400800" y="502920"/>
            <a:ext cx="5852160" cy="5852160"/>
          </a:xfrm>
          <a:prstGeom prst="ellipse">
            <a:avLst/>
          </a:prstGeom>
          <a:solidFill>
            <a:srgbClr val="0F2530">
              <a:alpha val="0"/>
            </a:srgbClr>
          </a:solidFill>
          <a:ln w="19050">
            <a:solidFill>
              <a:srgbClr val="4FC1C9">
                <a:alpha val="8000"/>
              </a:srgbClr>
            </a:solidFill>
            <a:prstDash val="solid"/>
          </a:ln>
        </p:spPr>
      </p:sp>
      <p:sp>
        <p:nvSpPr>
          <p:cNvPr id="9" name="Shape 6"/>
          <p:cNvSpPr/>
          <p:nvPr/>
        </p:nvSpPr>
        <p:spPr>
          <a:xfrm>
            <a:off x="9180576" y="3282696"/>
            <a:ext cx="292608" cy="292608"/>
          </a:xfrm>
          <a:prstGeom prst="ellipse">
            <a:avLst/>
          </a:prstGeom>
          <a:solidFill>
            <a:srgbClr val="FF7A52"/>
          </a:solidFill>
          <a:ln w="12700">
            <a:solidFill>
              <a:srgbClr val="FF7A52"/>
            </a:solidFill>
            <a:prstDash val="solid"/>
          </a:ln>
        </p:spPr>
      </p:sp>
      <p:sp>
        <p:nvSpPr>
          <p:cNvPr id="10" name="Text 7"/>
          <p:cNvSpPr txBox="1"/>
          <p:nvPr/>
        </p:nvSpPr>
        <p:spPr>
          <a:xfrm>
            <a:off x="640080" y="1371600"/>
            <a:ext cx="5486400" cy="365760"/>
          </a:xfrm>
          <a:prstGeom prst="rect">
            <a:avLst/>
          </a:prstGeom>
          <a:noFill/>
          <a:ln/>
        </p:spPr>
        <p:txBody>
          <a:bodyPr wrap="square" lIns="50800" tIns="50800" rIns="50800" bIns="50800" rtlCol="0" anchor="t"/>
          <a:lstStyle/>
          <a:p>
            <a:pPr algn="l" indent="0" marL="0">
              <a:buNone/>
            </a:pPr>
            <a:r>
              <a:rPr lang="en-US" sz="1400" b="1" spc="400" kern="0" dirty="0">
                <a:solidFill>
                  <a:srgbClr val="FF7A52"/>
                </a:solidFill>
                <a:latin typeface="Calibri" pitchFamily="34" charset="0"/>
                <a:ea typeface="Calibri" pitchFamily="34" charset="-122"/>
                <a:cs typeface="Calibri" pitchFamily="34" charset="-120"/>
              </a:rPr>
              <a:t>PROJECT PRESENTATION</a:t>
            </a:r>
            <a:endParaRPr lang="en-US" sz="1400" dirty="0"/>
          </a:p>
        </p:txBody>
      </p:sp>
      <p:sp>
        <p:nvSpPr>
          <p:cNvPr id="11" name="Text 8"/>
          <p:cNvSpPr txBox="1"/>
          <p:nvPr/>
        </p:nvSpPr>
        <p:spPr>
          <a:xfrm>
            <a:off x="640080" y="1828800"/>
            <a:ext cx="6583680" cy="1188720"/>
          </a:xfrm>
          <a:prstGeom prst="rect">
            <a:avLst/>
          </a:prstGeom>
          <a:noFill/>
          <a:ln/>
        </p:spPr>
        <p:txBody>
          <a:bodyPr wrap="square" lIns="50800" tIns="50800" rIns="50800" bIns="50800" rtlCol="0" anchor="ctr"/>
          <a:lstStyle/>
          <a:p>
            <a:pPr algn="l" indent="0" marL="0">
              <a:buNone/>
            </a:pPr>
            <a:r>
              <a:rPr lang="en-US" sz="5800" b="1" dirty="0">
                <a:solidFill>
                  <a:srgbClr val="FFFFFF"/>
                </a:solidFill>
                <a:latin typeface="Cambria" pitchFamily="34" charset="0"/>
                <a:ea typeface="Cambria" pitchFamily="34" charset="-122"/>
                <a:cs typeface="Cambria" pitchFamily="34" charset="-120"/>
              </a:rPr>
              <a:t>Disaster Connect</a:t>
            </a:r>
            <a:endParaRPr lang="en-US" sz="5800" dirty="0"/>
          </a:p>
        </p:txBody>
      </p:sp>
      <p:sp>
        <p:nvSpPr>
          <p:cNvPr id="12" name="Text 9"/>
          <p:cNvSpPr txBox="1"/>
          <p:nvPr/>
        </p:nvSpPr>
        <p:spPr>
          <a:xfrm>
            <a:off x="640080" y="3154680"/>
            <a:ext cx="6035040" cy="1005840"/>
          </a:xfrm>
          <a:prstGeom prst="rect">
            <a:avLst/>
          </a:prstGeom>
          <a:noFill/>
          <a:ln/>
        </p:spPr>
        <p:txBody>
          <a:bodyPr wrap="square" lIns="50800" tIns="50800" rIns="50800" bIns="50800" rtlCol="0" anchor="t"/>
          <a:lstStyle/>
          <a:p>
            <a:pPr algn="l" indent="0" marL="0">
              <a:buNone/>
            </a:pPr>
            <a:r>
              <a:rPr lang="en-US" sz="2200" dirty="0">
                <a:solidFill>
                  <a:srgbClr val="C9DBE4"/>
                </a:solidFill>
                <a:latin typeface="Calibri" pitchFamily="34" charset="0"/>
                <a:ea typeface="Calibri" pitchFamily="34" charset="-122"/>
                <a:cs typeface="Calibri" pitchFamily="34" charset="-120"/>
              </a:rPr>
              <a:t>A local-first alert system for floods, earthquakes, storms and tsunamis</a:t>
            </a:r>
            <a:endParaRPr lang="en-US" sz="2200" dirty="0"/>
          </a:p>
        </p:txBody>
      </p:sp>
      <p:sp>
        <p:nvSpPr>
          <p:cNvPr id="13" name="Text 10"/>
          <p:cNvSpPr txBox="1"/>
          <p:nvPr/>
        </p:nvSpPr>
        <p:spPr>
          <a:xfrm>
            <a:off x="640080" y="4343400"/>
            <a:ext cx="6035040" cy="457200"/>
          </a:xfrm>
          <a:prstGeom prst="rect">
            <a:avLst/>
          </a:prstGeom>
          <a:noFill/>
          <a:ln/>
        </p:spPr>
        <p:txBody>
          <a:bodyPr wrap="square" lIns="50800" tIns="50800" rIns="50800" bIns="50800" rtlCol="0" anchor="t"/>
          <a:lstStyle/>
          <a:p>
            <a:pPr algn="l" indent="0" marL="0">
              <a:buNone/>
            </a:pPr>
            <a:r>
              <a:rPr lang="en-US" sz="1800" i="1" dirty="0">
                <a:solidFill>
                  <a:srgbClr val="FF7A52"/>
                </a:solidFill>
                <a:latin typeface="Calibri" pitchFamily="34" charset="0"/>
                <a:ea typeface="Calibri" pitchFamily="34" charset="-122"/>
                <a:cs typeface="Calibri" pitchFamily="34" charset="-120"/>
              </a:rPr>
              <a:t>It still works when the internet does not.</a:t>
            </a:r>
            <a:endParaRPr lang="en-US" sz="1800" dirty="0"/>
          </a:p>
        </p:txBody>
      </p:sp>
      <p:sp>
        <p:nvSpPr>
          <p:cNvPr id="14" name="Text 11"/>
          <p:cNvSpPr txBox="1"/>
          <p:nvPr/>
        </p:nvSpPr>
        <p:spPr>
          <a:xfrm>
            <a:off x="640080" y="6035040"/>
            <a:ext cx="7315200" cy="365760"/>
          </a:xfrm>
          <a:prstGeom prst="rect">
            <a:avLst/>
          </a:prstGeom>
          <a:noFill/>
          <a:ln/>
        </p:spPr>
        <p:txBody>
          <a:bodyPr wrap="square" lIns="50800" tIns="50800" rIns="50800" bIns="50800" rtlCol="0" anchor="t"/>
          <a:lstStyle/>
          <a:p>
            <a:pPr algn="l" indent="0" marL="0">
              <a:buNone/>
            </a:pPr>
            <a:r>
              <a:rPr lang="en-US" sz="1300" dirty="0">
                <a:solidFill>
                  <a:srgbClr val="AAC2CF"/>
                </a:solidFill>
                <a:latin typeface="Calibri" pitchFamily="34" charset="0"/>
                <a:ea typeface="Calibri" pitchFamily="34" charset="-122"/>
                <a:cs typeface="Calibri" pitchFamily="34" charset="-120"/>
              </a:rPr>
              <a:t>Python · FastAPI · LangGraph · SQLite · Vanilla JS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When disaster strikes, the network fails first</a:t>
            </a:r>
            <a:endParaRPr lang="en-US" sz="3400" dirty="0"/>
          </a:p>
        </p:txBody>
      </p:sp>
      <p:sp>
        <p:nvSpPr>
          <p:cNvPr id="4" name="Text 1"/>
          <p:cNvSpPr txBox="1"/>
          <p:nvPr/>
        </p:nvSpPr>
        <p:spPr>
          <a:xfrm>
            <a:off x="548640" y="1234440"/>
            <a:ext cx="10515600" cy="548640"/>
          </a:xfrm>
          <a:prstGeom prst="rect">
            <a:avLst/>
          </a:prstGeom>
          <a:noFill/>
          <a:ln/>
        </p:spPr>
        <p:txBody>
          <a:bodyPr wrap="square" lIns="50800" tIns="50800" rIns="50800" bIns="50800" rtlCol="0" anchor="t"/>
          <a:lstStyle/>
          <a:p>
            <a:pPr algn="l" indent="0" marL="0">
              <a:buNone/>
            </a:pPr>
            <a:r>
              <a:rPr lang="en-US" sz="2000" dirty="0">
                <a:solidFill>
                  <a:srgbClr val="4A5B69"/>
                </a:solidFill>
                <a:latin typeface="Calibri" pitchFamily="34" charset="0"/>
                <a:ea typeface="Calibri" pitchFamily="34" charset="-122"/>
                <a:cs typeface="Calibri" pitchFamily="34" charset="-120"/>
              </a:rPr>
              <a:t>A smoke alarm needs no Wi-Fi. We built the same idea for four dangers at once.</a:t>
            </a:r>
            <a:endParaRPr lang="en-US" sz="2000" dirty="0"/>
          </a:p>
        </p:txBody>
      </p:sp>
      <p:sp>
        <p:nvSpPr>
          <p:cNvPr id="5" name="Shape 2"/>
          <p:cNvSpPr/>
          <p:nvPr/>
        </p:nvSpPr>
        <p:spPr>
          <a:xfrm>
            <a:off x="548640" y="2194560"/>
            <a:ext cx="3474720" cy="3566160"/>
          </a:xfrm>
          <a:prstGeom prst="roundRect">
            <a:avLst>
              <a:gd name="adj" fmla="val 315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868680" y="2514600"/>
            <a:ext cx="731520" cy="731520"/>
          </a:xfrm>
          <a:prstGeom prst="ellipse">
            <a:avLst/>
          </a:prstGeom>
          <a:solidFill>
            <a:srgbClr val="0D6B73"/>
          </a:solidFill>
          <a:ln w="12700">
            <a:solidFill>
              <a:srgbClr val="0D6B73"/>
            </a:solidFill>
            <a:prstDash val="solid"/>
          </a:ln>
        </p:spPr>
      </p:sp>
      <p:sp>
        <p:nvSpPr>
          <p:cNvPr id="7" name="Text 4"/>
          <p:cNvSpPr txBox="1"/>
          <p:nvPr/>
        </p:nvSpPr>
        <p:spPr>
          <a:xfrm>
            <a:off x="868680" y="2514600"/>
            <a:ext cx="731520" cy="73152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822960" y="3429000"/>
            <a:ext cx="2926080" cy="54864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Works offline</a:t>
            </a:r>
            <a:endParaRPr lang="en-US" sz="2400" dirty="0"/>
          </a:p>
        </p:txBody>
      </p:sp>
      <p:sp>
        <p:nvSpPr>
          <p:cNvPr id="9" name="Text 6"/>
          <p:cNvSpPr txBox="1"/>
          <p:nvPr/>
        </p:nvSpPr>
        <p:spPr>
          <a:xfrm>
            <a:off x="822960" y="4069080"/>
            <a:ext cx="2926080" cy="146304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The alarm decision never waits for the internet. Weather and shelters are bonuses.</a:t>
            </a:r>
            <a:endParaRPr lang="en-US" sz="1600" dirty="0"/>
          </a:p>
        </p:txBody>
      </p:sp>
      <p:sp>
        <p:nvSpPr>
          <p:cNvPr id="10" name="Shape 7"/>
          <p:cNvSpPr/>
          <p:nvPr/>
        </p:nvSpPr>
        <p:spPr>
          <a:xfrm>
            <a:off x="4297680" y="2194560"/>
            <a:ext cx="3474720" cy="3566160"/>
          </a:xfrm>
          <a:prstGeom prst="roundRect">
            <a:avLst>
              <a:gd name="adj" fmla="val 315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617720" y="2514600"/>
            <a:ext cx="731520" cy="731520"/>
          </a:xfrm>
          <a:prstGeom prst="ellipse">
            <a:avLst/>
          </a:prstGeom>
          <a:solidFill>
            <a:srgbClr val="0D6B73"/>
          </a:solidFill>
          <a:ln w="12700">
            <a:solidFill>
              <a:srgbClr val="0D6B73"/>
            </a:solidFill>
            <a:prstDash val="solid"/>
          </a:ln>
        </p:spPr>
      </p:sp>
      <p:sp>
        <p:nvSpPr>
          <p:cNvPr id="12" name="Text 9"/>
          <p:cNvSpPr txBox="1"/>
          <p:nvPr/>
        </p:nvSpPr>
        <p:spPr>
          <a:xfrm>
            <a:off x="4617720" y="2514600"/>
            <a:ext cx="731520" cy="73152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0"/>
          <p:cNvSpPr txBox="1"/>
          <p:nvPr/>
        </p:nvSpPr>
        <p:spPr>
          <a:xfrm>
            <a:off x="4572000" y="3429000"/>
            <a:ext cx="2926080" cy="54864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Explains itself</a:t>
            </a:r>
            <a:endParaRPr lang="en-US" sz="2400" dirty="0"/>
          </a:p>
        </p:txBody>
      </p:sp>
      <p:sp>
        <p:nvSpPr>
          <p:cNvPr id="14" name="Text 11"/>
          <p:cNvSpPr txBox="1"/>
          <p:nvPr/>
        </p:nvSpPr>
        <p:spPr>
          <a:xfrm>
            <a:off x="4572000" y="4069080"/>
            <a:ext cx="2926080" cy="146304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Every alert says why, for example “wind 120 km/h is above the limit of 70 km/h”.</a:t>
            </a:r>
            <a:endParaRPr lang="en-US" sz="1600" dirty="0"/>
          </a:p>
        </p:txBody>
      </p:sp>
      <p:sp>
        <p:nvSpPr>
          <p:cNvPr id="15" name="Shape 12"/>
          <p:cNvSpPr/>
          <p:nvPr/>
        </p:nvSpPr>
        <p:spPr>
          <a:xfrm>
            <a:off x="8046720" y="2194560"/>
            <a:ext cx="3474720" cy="3566160"/>
          </a:xfrm>
          <a:prstGeom prst="roundRect">
            <a:avLst>
              <a:gd name="adj" fmla="val 315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6" name="Shape 13"/>
          <p:cNvSpPr/>
          <p:nvPr/>
        </p:nvSpPr>
        <p:spPr>
          <a:xfrm>
            <a:off x="8366760" y="2514600"/>
            <a:ext cx="731520" cy="731520"/>
          </a:xfrm>
          <a:prstGeom prst="ellipse">
            <a:avLst/>
          </a:prstGeom>
          <a:solidFill>
            <a:srgbClr val="0D6B73"/>
          </a:solidFill>
          <a:ln w="12700">
            <a:solidFill>
              <a:srgbClr val="0D6B73"/>
            </a:solidFill>
            <a:prstDash val="solid"/>
          </a:ln>
        </p:spPr>
      </p:sp>
      <p:sp>
        <p:nvSpPr>
          <p:cNvPr id="17" name="Text 14"/>
          <p:cNvSpPr txBox="1"/>
          <p:nvPr/>
        </p:nvSpPr>
        <p:spPr>
          <a:xfrm>
            <a:off x="8366760" y="2514600"/>
            <a:ext cx="731520" cy="73152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5"/>
          <p:cNvSpPr txBox="1"/>
          <p:nvPr/>
        </p:nvSpPr>
        <p:spPr>
          <a:xfrm>
            <a:off x="8321040" y="3429000"/>
            <a:ext cx="2926080" cy="54864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Easy to run</a:t>
            </a:r>
            <a:endParaRPr lang="en-US" sz="2400" dirty="0"/>
          </a:p>
        </p:txBody>
      </p:sp>
      <p:sp>
        <p:nvSpPr>
          <p:cNvPr id="19" name="Text 16"/>
          <p:cNvSpPr txBox="1"/>
          <p:nvPr/>
        </p:nvSpPr>
        <p:spPr>
          <a:xfrm>
            <a:off x="8321040" y="4069080"/>
            <a:ext cx="2926080" cy="146304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One zip file and one double-click. Nothing to install.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Four dangers, four simple limits</a:t>
            </a:r>
            <a:endParaRPr lang="en-US" sz="3400" dirty="0"/>
          </a:p>
        </p:txBody>
      </p:sp>
      <p:sp>
        <p:nvSpPr>
          <p:cNvPr id="4" name="Shape 1"/>
          <p:cNvSpPr/>
          <p:nvPr/>
        </p:nvSpPr>
        <p:spPr>
          <a:xfrm>
            <a:off x="457200" y="1554480"/>
            <a:ext cx="2651760" cy="4206240"/>
          </a:xfrm>
          <a:prstGeom prst="roundRect">
            <a:avLst>
              <a:gd name="adj" fmla="val 413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731520" y="1828800"/>
            <a:ext cx="502920" cy="502920"/>
          </a:xfrm>
          <a:prstGeom prst="ellipse">
            <a:avLst/>
          </a:prstGeom>
          <a:solidFill>
            <a:srgbClr val="0D6B73"/>
          </a:solidFill>
          <a:ln w="12700">
            <a:solidFill>
              <a:srgbClr val="0D6B73"/>
            </a:solidFill>
            <a:prstDash val="solid"/>
          </a:ln>
        </p:spPr>
      </p:sp>
      <p:sp>
        <p:nvSpPr>
          <p:cNvPr id="6" name="Text 3"/>
          <p:cNvSpPr txBox="1"/>
          <p:nvPr/>
        </p:nvSpPr>
        <p:spPr>
          <a:xfrm>
            <a:off x="731520" y="1828800"/>
            <a:ext cx="502920" cy="50292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685800" y="2468880"/>
            <a:ext cx="2286000" cy="50292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Flood</a:t>
            </a:r>
            <a:endParaRPr lang="en-US" sz="2400" dirty="0"/>
          </a:p>
        </p:txBody>
      </p:sp>
      <p:sp>
        <p:nvSpPr>
          <p:cNvPr id="8" name="Text 5"/>
          <p:cNvSpPr txBox="1"/>
          <p:nvPr/>
        </p:nvSpPr>
        <p:spPr>
          <a:xfrm>
            <a:off x="685800" y="2971800"/>
            <a:ext cx="228600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Water level and rain</a:t>
            </a:r>
            <a:endParaRPr lang="en-US" sz="1500" dirty="0"/>
          </a:p>
        </p:txBody>
      </p:sp>
      <p:sp>
        <p:nvSpPr>
          <p:cNvPr id="9" name="Text 6"/>
          <p:cNvSpPr txBox="1"/>
          <p:nvPr/>
        </p:nvSpPr>
        <p:spPr>
          <a:xfrm>
            <a:off x="685800" y="3520440"/>
            <a:ext cx="2286000" cy="822960"/>
          </a:xfrm>
          <a:prstGeom prst="rect">
            <a:avLst/>
          </a:prstGeom>
          <a:noFill/>
          <a:ln/>
        </p:spPr>
        <p:txBody>
          <a:bodyPr wrap="square" lIns="50800" tIns="50800" rIns="50800" bIns="50800" rtlCol="0" anchor="t"/>
          <a:lstStyle/>
          <a:p>
            <a:pPr algn="l" indent="0" marL="0">
              <a:buNone/>
            </a:pPr>
            <a:r>
              <a:rPr lang="en-US" sz="4000" b="1" dirty="0">
                <a:solidFill>
                  <a:srgbClr val="0D6B73"/>
                </a:solidFill>
                <a:latin typeface="Cambria" pitchFamily="34" charset="0"/>
                <a:ea typeface="Cambria" pitchFamily="34" charset="-122"/>
                <a:cs typeface="Cambria" pitchFamily="34" charset="-120"/>
              </a:rPr>
              <a:t>80 cm</a:t>
            </a:r>
            <a:endParaRPr lang="en-US" sz="4000" dirty="0"/>
          </a:p>
        </p:txBody>
      </p:sp>
      <p:sp>
        <p:nvSpPr>
          <p:cNvPr id="10" name="Text 7"/>
          <p:cNvSpPr txBox="1"/>
          <p:nvPr/>
        </p:nvSpPr>
        <p:spPr>
          <a:xfrm>
            <a:off x="685800" y="4389120"/>
            <a:ext cx="2286000" cy="10972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water closer than this, or rain over 30 mm/hr</a:t>
            </a:r>
            <a:endParaRPr lang="en-US" sz="1400" dirty="0"/>
          </a:p>
        </p:txBody>
      </p:sp>
      <p:sp>
        <p:nvSpPr>
          <p:cNvPr id="11" name="Shape 8"/>
          <p:cNvSpPr/>
          <p:nvPr/>
        </p:nvSpPr>
        <p:spPr>
          <a:xfrm>
            <a:off x="3337560" y="1554480"/>
            <a:ext cx="2651760" cy="4206240"/>
          </a:xfrm>
          <a:prstGeom prst="roundRect">
            <a:avLst>
              <a:gd name="adj" fmla="val 413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3611880" y="1828800"/>
            <a:ext cx="502920" cy="502920"/>
          </a:xfrm>
          <a:prstGeom prst="ellipse">
            <a:avLst/>
          </a:prstGeom>
          <a:solidFill>
            <a:srgbClr val="0D6B73"/>
          </a:solidFill>
          <a:ln w="12700">
            <a:solidFill>
              <a:srgbClr val="0D6B73"/>
            </a:solidFill>
            <a:prstDash val="solid"/>
          </a:ln>
        </p:spPr>
      </p:sp>
      <p:sp>
        <p:nvSpPr>
          <p:cNvPr id="13" name="Text 10"/>
          <p:cNvSpPr txBox="1"/>
          <p:nvPr/>
        </p:nvSpPr>
        <p:spPr>
          <a:xfrm>
            <a:off x="3611880" y="1828800"/>
            <a:ext cx="502920" cy="50292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3566160" y="2468880"/>
            <a:ext cx="2286000" cy="50292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Earthquake</a:t>
            </a:r>
            <a:endParaRPr lang="en-US" sz="2400" dirty="0"/>
          </a:p>
        </p:txBody>
      </p:sp>
      <p:sp>
        <p:nvSpPr>
          <p:cNvPr id="15" name="Text 12"/>
          <p:cNvSpPr txBox="1"/>
          <p:nvPr/>
        </p:nvSpPr>
        <p:spPr>
          <a:xfrm>
            <a:off x="3566160" y="2971800"/>
            <a:ext cx="228600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Shaking now vs. usual</a:t>
            </a:r>
            <a:endParaRPr lang="en-US" sz="1500" dirty="0"/>
          </a:p>
        </p:txBody>
      </p:sp>
      <p:sp>
        <p:nvSpPr>
          <p:cNvPr id="16" name="Text 13"/>
          <p:cNvSpPr txBox="1"/>
          <p:nvPr/>
        </p:nvSpPr>
        <p:spPr>
          <a:xfrm>
            <a:off x="3566160" y="3520440"/>
            <a:ext cx="2286000" cy="822960"/>
          </a:xfrm>
          <a:prstGeom prst="rect">
            <a:avLst/>
          </a:prstGeom>
          <a:noFill/>
          <a:ln/>
        </p:spPr>
        <p:txBody>
          <a:bodyPr wrap="square" lIns="50800" tIns="50800" rIns="50800" bIns="50800" rtlCol="0" anchor="t"/>
          <a:lstStyle/>
          <a:p>
            <a:pPr algn="l" indent="0" marL="0">
              <a:buNone/>
            </a:pPr>
            <a:r>
              <a:rPr lang="en-US" sz="4000" b="1" dirty="0">
                <a:solidFill>
                  <a:srgbClr val="0D6B73"/>
                </a:solidFill>
                <a:latin typeface="Cambria" pitchFamily="34" charset="0"/>
                <a:ea typeface="Cambria" pitchFamily="34" charset="-122"/>
                <a:cs typeface="Cambria" pitchFamily="34" charset="-120"/>
              </a:rPr>
              <a:t>3.0×</a:t>
            </a:r>
            <a:endParaRPr lang="en-US" sz="4000" dirty="0"/>
          </a:p>
        </p:txBody>
      </p:sp>
      <p:sp>
        <p:nvSpPr>
          <p:cNvPr id="17" name="Text 14"/>
          <p:cNvSpPr txBox="1"/>
          <p:nvPr/>
        </p:nvSpPr>
        <p:spPr>
          <a:xfrm>
            <a:off x="3566160" y="4389120"/>
            <a:ext cx="2286000" cy="10972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short-term ÷ long-term average of shaking</a:t>
            </a:r>
            <a:endParaRPr lang="en-US" sz="1400" dirty="0"/>
          </a:p>
        </p:txBody>
      </p:sp>
      <p:sp>
        <p:nvSpPr>
          <p:cNvPr id="18" name="Shape 15"/>
          <p:cNvSpPr/>
          <p:nvPr/>
        </p:nvSpPr>
        <p:spPr>
          <a:xfrm>
            <a:off x="6217920" y="1554480"/>
            <a:ext cx="2651760" cy="4206240"/>
          </a:xfrm>
          <a:prstGeom prst="roundRect">
            <a:avLst>
              <a:gd name="adj" fmla="val 413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492240" y="1828800"/>
            <a:ext cx="502920" cy="502920"/>
          </a:xfrm>
          <a:prstGeom prst="ellipse">
            <a:avLst/>
          </a:prstGeom>
          <a:solidFill>
            <a:srgbClr val="0D6B73"/>
          </a:solidFill>
          <a:ln w="12700">
            <a:solidFill>
              <a:srgbClr val="0D6B73"/>
            </a:solidFill>
            <a:prstDash val="solid"/>
          </a:ln>
        </p:spPr>
      </p:sp>
      <p:sp>
        <p:nvSpPr>
          <p:cNvPr id="20" name="Text 17"/>
          <p:cNvSpPr txBox="1"/>
          <p:nvPr/>
        </p:nvSpPr>
        <p:spPr>
          <a:xfrm>
            <a:off x="6492240" y="1828800"/>
            <a:ext cx="502920" cy="50292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8"/>
          <p:cNvSpPr txBox="1"/>
          <p:nvPr/>
        </p:nvSpPr>
        <p:spPr>
          <a:xfrm>
            <a:off x="6446520" y="2468880"/>
            <a:ext cx="2286000" cy="50292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Storm</a:t>
            </a:r>
            <a:endParaRPr lang="en-US" sz="2400" dirty="0"/>
          </a:p>
        </p:txBody>
      </p:sp>
      <p:sp>
        <p:nvSpPr>
          <p:cNvPr id="22" name="Text 19"/>
          <p:cNvSpPr txBox="1"/>
          <p:nvPr/>
        </p:nvSpPr>
        <p:spPr>
          <a:xfrm>
            <a:off x="6446520" y="2971800"/>
            <a:ext cx="228600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Wind, rain, weather code</a:t>
            </a:r>
            <a:endParaRPr lang="en-US" sz="1500" dirty="0"/>
          </a:p>
        </p:txBody>
      </p:sp>
      <p:sp>
        <p:nvSpPr>
          <p:cNvPr id="23" name="Text 20"/>
          <p:cNvSpPr txBox="1"/>
          <p:nvPr/>
        </p:nvSpPr>
        <p:spPr>
          <a:xfrm>
            <a:off x="6446520" y="3520440"/>
            <a:ext cx="2286000" cy="822960"/>
          </a:xfrm>
          <a:prstGeom prst="rect">
            <a:avLst/>
          </a:prstGeom>
          <a:noFill/>
          <a:ln/>
        </p:spPr>
        <p:txBody>
          <a:bodyPr wrap="square" lIns="50800" tIns="50800" rIns="50800" bIns="50800" rtlCol="0" anchor="t"/>
          <a:lstStyle/>
          <a:p>
            <a:pPr algn="l" indent="0" marL="0">
              <a:buNone/>
            </a:pPr>
            <a:r>
              <a:rPr lang="en-US" sz="4000" b="1" dirty="0">
                <a:solidFill>
                  <a:srgbClr val="0D6B73"/>
                </a:solidFill>
                <a:latin typeface="Cambria" pitchFamily="34" charset="0"/>
                <a:ea typeface="Cambria" pitchFamily="34" charset="-122"/>
                <a:cs typeface="Cambria" pitchFamily="34" charset="-120"/>
              </a:rPr>
              <a:t>70 km/h</a:t>
            </a:r>
            <a:endParaRPr lang="en-US" sz="4000" dirty="0"/>
          </a:p>
        </p:txBody>
      </p:sp>
      <p:sp>
        <p:nvSpPr>
          <p:cNvPr id="24" name="Text 21"/>
          <p:cNvSpPr txBox="1"/>
          <p:nvPr/>
        </p:nvSpPr>
        <p:spPr>
          <a:xfrm>
            <a:off x="6446520" y="4389120"/>
            <a:ext cx="2286000" cy="10972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wind speed, or rain 50 mm/hr, or a thunderstorm code</a:t>
            </a:r>
            <a:endParaRPr lang="en-US" sz="1400" dirty="0"/>
          </a:p>
        </p:txBody>
      </p:sp>
      <p:sp>
        <p:nvSpPr>
          <p:cNvPr id="25" name="Shape 22"/>
          <p:cNvSpPr/>
          <p:nvPr/>
        </p:nvSpPr>
        <p:spPr>
          <a:xfrm>
            <a:off x="9098280" y="1554480"/>
            <a:ext cx="2651760" cy="4206240"/>
          </a:xfrm>
          <a:prstGeom prst="roundRect">
            <a:avLst>
              <a:gd name="adj" fmla="val 4138"/>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6" name="Shape 23"/>
          <p:cNvSpPr/>
          <p:nvPr/>
        </p:nvSpPr>
        <p:spPr>
          <a:xfrm>
            <a:off x="9372600" y="1828800"/>
            <a:ext cx="502920" cy="502920"/>
          </a:xfrm>
          <a:prstGeom prst="ellipse">
            <a:avLst/>
          </a:prstGeom>
          <a:solidFill>
            <a:srgbClr val="C8401A"/>
          </a:solidFill>
          <a:ln w="12700">
            <a:solidFill>
              <a:srgbClr val="C8401A"/>
            </a:solidFill>
            <a:prstDash val="solid"/>
          </a:ln>
        </p:spPr>
      </p:sp>
      <p:sp>
        <p:nvSpPr>
          <p:cNvPr id="27" name="Text 24"/>
          <p:cNvSpPr txBox="1"/>
          <p:nvPr/>
        </p:nvSpPr>
        <p:spPr>
          <a:xfrm>
            <a:off x="9372600" y="1828800"/>
            <a:ext cx="502920" cy="50292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5"/>
          <p:cNvSpPr txBox="1"/>
          <p:nvPr/>
        </p:nvSpPr>
        <p:spPr>
          <a:xfrm>
            <a:off x="9326880" y="2468880"/>
            <a:ext cx="2286000" cy="502920"/>
          </a:xfrm>
          <a:prstGeom prst="rect">
            <a:avLst/>
          </a:prstGeom>
          <a:noFill/>
          <a:ln/>
        </p:spPr>
        <p:txBody>
          <a:bodyPr wrap="square" lIns="50800" tIns="50800" rIns="50800" bIns="50800" rtlCol="0" anchor="t"/>
          <a:lstStyle/>
          <a:p>
            <a:pPr algn="l" indent="0" marL="0">
              <a:buNone/>
            </a:pPr>
            <a:r>
              <a:rPr lang="en-US" sz="2400" b="1" dirty="0">
                <a:solidFill>
                  <a:srgbClr val="0F2530"/>
                </a:solidFill>
                <a:latin typeface="Cambria" pitchFamily="34" charset="0"/>
                <a:ea typeface="Cambria" pitchFamily="34" charset="-122"/>
                <a:cs typeface="Cambria" pitchFamily="34" charset="-120"/>
              </a:rPr>
              <a:t>Tsunami</a:t>
            </a:r>
            <a:endParaRPr lang="en-US" sz="2400" dirty="0"/>
          </a:p>
        </p:txBody>
      </p:sp>
      <p:sp>
        <p:nvSpPr>
          <p:cNvPr id="29" name="Text 26"/>
          <p:cNvSpPr txBox="1"/>
          <p:nvPr/>
        </p:nvSpPr>
        <p:spPr>
          <a:xfrm>
            <a:off x="9326880" y="2971800"/>
            <a:ext cx="228600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Sea level at the coast</a:t>
            </a:r>
            <a:endParaRPr lang="en-US" sz="1500" dirty="0"/>
          </a:p>
        </p:txBody>
      </p:sp>
      <p:sp>
        <p:nvSpPr>
          <p:cNvPr id="30" name="Text 27"/>
          <p:cNvSpPr txBox="1"/>
          <p:nvPr/>
        </p:nvSpPr>
        <p:spPr>
          <a:xfrm>
            <a:off x="9326880" y="3520440"/>
            <a:ext cx="2286000" cy="822960"/>
          </a:xfrm>
          <a:prstGeom prst="rect">
            <a:avLst/>
          </a:prstGeom>
          <a:noFill/>
          <a:ln/>
        </p:spPr>
        <p:txBody>
          <a:bodyPr wrap="square" lIns="50800" tIns="50800" rIns="50800" bIns="50800" rtlCol="0" anchor="t"/>
          <a:lstStyle/>
          <a:p>
            <a:pPr algn="l" indent="0" marL="0">
              <a:buNone/>
            </a:pPr>
            <a:r>
              <a:rPr lang="en-US" sz="4000" b="1" dirty="0">
                <a:solidFill>
                  <a:srgbClr val="C8401A"/>
                </a:solidFill>
                <a:latin typeface="Cambria" pitchFamily="34" charset="0"/>
                <a:ea typeface="Cambria" pitchFamily="34" charset="-122"/>
                <a:cs typeface="Cambria" pitchFamily="34" charset="-120"/>
              </a:rPr>
              <a:t>50 cm</a:t>
            </a:r>
            <a:endParaRPr lang="en-US" sz="4000" dirty="0"/>
          </a:p>
        </p:txBody>
      </p:sp>
      <p:sp>
        <p:nvSpPr>
          <p:cNvPr id="31" name="Text 28"/>
          <p:cNvSpPr txBox="1"/>
          <p:nvPr/>
        </p:nvSpPr>
        <p:spPr>
          <a:xfrm>
            <a:off x="9326880" y="4389120"/>
            <a:ext cx="2286000" cy="10972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rapid change on a tide gauge (not a river)</a:t>
            </a:r>
            <a:endParaRPr lang="en-US" sz="1400" dirty="0"/>
          </a:p>
        </p:txBody>
      </p:sp>
      <p:sp>
        <p:nvSpPr>
          <p:cNvPr id="32" name="Text 29"/>
          <p:cNvSpPr txBox="1"/>
          <p:nvPr/>
        </p:nvSpPr>
        <p:spPr>
          <a:xfrm>
            <a:off x="548640" y="6035040"/>
            <a:ext cx="10972800" cy="411480"/>
          </a:xfrm>
          <a:prstGeom prst="rect">
            <a:avLst/>
          </a:prstGeom>
          <a:noFill/>
          <a:ln/>
        </p:spPr>
        <p:txBody>
          <a:bodyPr wrap="square" lIns="50800" tIns="50800" rIns="50800" bIns="50800" rtlCol="0" anchor="t"/>
          <a:lstStyle/>
          <a:p>
            <a:pPr algn="l" indent="0" marL="0">
              <a:buNone/>
            </a:pPr>
            <a:r>
              <a:rPr lang="en-US" sz="1600" i="1" dirty="0">
                <a:solidFill>
                  <a:srgbClr val="4A5B69"/>
                </a:solidFill>
                <a:latin typeface="Calibri" pitchFamily="34" charset="0"/>
                <a:ea typeface="Calibri" pitchFamily="34" charset="-122"/>
                <a:cs typeface="Calibri" pitchFamily="34" charset="-120"/>
              </a:rPr>
              <a:t>If several are high, only the most urgent one becomes the headline.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Four layers, one direction of flow</a:t>
            </a:r>
            <a:endParaRPr lang="en-US" sz="3400" dirty="0"/>
          </a:p>
        </p:txBody>
      </p:sp>
      <p:sp>
        <p:nvSpPr>
          <p:cNvPr id="4" name="Shape 1"/>
          <p:cNvSpPr/>
          <p:nvPr/>
        </p:nvSpPr>
        <p:spPr>
          <a:xfrm>
            <a:off x="548640" y="1463040"/>
            <a:ext cx="1828800" cy="1005840"/>
          </a:xfrm>
          <a:prstGeom prst="roundRect">
            <a:avLst>
              <a:gd name="adj" fmla="val 9091"/>
            </a:avLst>
          </a:prstGeom>
          <a:solidFill>
            <a:srgbClr val="0D6B73"/>
          </a:solidFill>
          <a:ln w="12700">
            <a:solidFill>
              <a:srgbClr val="0D6B73"/>
            </a:solidFill>
            <a:prstDash val="solid"/>
          </a:ln>
        </p:spPr>
      </p:sp>
      <p:sp>
        <p:nvSpPr>
          <p:cNvPr id="5" name="Text 2"/>
          <p:cNvSpPr txBox="1"/>
          <p:nvPr/>
        </p:nvSpPr>
        <p:spPr>
          <a:xfrm>
            <a:off x="548640" y="1463040"/>
            <a:ext cx="1828800" cy="10058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SENSE</a:t>
            </a:r>
            <a:endParaRPr lang="en-US" sz="2200" dirty="0"/>
          </a:p>
        </p:txBody>
      </p:sp>
      <p:sp>
        <p:nvSpPr>
          <p:cNvPr id="6" name="Shape 3"/>
          <p:cNvSpPr/>
          <p:nvPr/>
        </p:nvSpPr>
        <p:spPr>
          <a:xfrm>
            <a:off x="2560320" y="1463040"/>
            <a:ext cx="2137410" cy="1005840"/>
          </a:xfrm>
          <a:prstGeom prst="roundRect">
            <a:avLst>
              <a:gd name="adj" fmla="val 9091"/>
            </a:avLst>
          </a:prstGeom>
          <a:solidFill>
            <a:srgbClr val="FFFFFF"/>
          </a:solidFill>
          <a:ln w="19050">
            <a:solidFill>
              <a:srgbClr val="0D6B73"/>
            </a:solidFill>
            <a:prstDash val="solid"/>
          </a:ln>
        </p:spPr>
      </p:sp>
      <p:sp>
        <p:nvSpPr>
          <p:cNvPr id="7" name="Text 4"/>
          <p:cNvSpPr txBox="1"/>
          <p:nvPr/>
        </p:nvSpPr>
        <p:spPr>
          <a:xfrm>
            <a:off x="2560320" y="146304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Sensors + GPS</a:t>
            </a:r>
            <a:endParaRPr lang="en-US" sz="1600" dirty="0"/>
          </a:p>
        </p:txBody>
      </p:sp>
      <p:sp>
        <p:nvSpPr>
          <p:cNvPr id="8" name="Shape 5"/>
          <p:cNvSpPr/>
          <p:nvPr/>
        </p:nvSpPr>
        <p:spPr>
          <a:xfrm>
            <a:off x="4880610" y="1463040"/>
            <a:ext cx="2137410" cy="1005840"/>
          </a:xfrm>
          <a:prstGeom prst="roundRect">
            <a:avLst>
              <a:gd name="adj" fmla="val 9091"/>
            </a:avLst>
          </a:prstGeom>
          <a:solidFill>
            <a:srgbClr val="FFFFFF"/>
          </a:solidFill>
          <a:ln w="19050">
            <a:solidFill>
              <a:srgbClr val="0D6B73"/>
            </a:solidFill>
            <a:prstDash val="solid"/>
          </a:ln>
        </p:spPr>
      </p:sp>
      <p:sp>
        <p:nvSpPr>
          <p:cNvPr id="9" name="Text 6"/>
          <p:cNvSpPr txBox="1"/>
          <p:nvPr/>
        </p:nvSpPr>
        <p:spPr>
          <a:xfrm>
            <a:off x="4880610" y="146304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Connectivity check</a:t>
            </a:r>
            <a:endParaRPr lang="en-US" sz="1600" dirty="0"/>
          </a:p>
        </p:txBody>
      </p:sp>
      <p:sp>
        <p:nvSpPr>
          <p:cNvPr id="10" name="Shape 7"/>
          <p:cNvSpPr/>
          <p:nvPr/>
        </p:nvSpPr>
        <p:spPr>
          <a:xfrm>
            <a:off x="7200900" y="1463040"/>
            <a:ext cx="2137410" cy="1005840"/>
          </a:xfrm>
          <a:prstGeom prst="roundRect">
            <a:avLst>
              <a:gd name="adj" fmla="val 9091"/>
            </a:avLst>
          </a:prstGeom>
          <a:solidFill>
            <a:srgbClr val="EEF2F5"/>
          </a:solidFill>
          <a:ln w="19050">
            <a:solidFill>
              <a:srgbClr val="7B8A97"/>
            </a:solidFill>
            <a:prstDash val="dash"/>
          </a:ln>
        </p:spPr>
      </p:sp>
      <p:sp>
        <p:nvSpPr>
          <p:cNvPr id="11" name="Text 8"/>
          <p:cNvSpPr txBox="1"/>
          <p:nvPr/>
        </p:nvSpPr>
        <p:spPr>
          <a:xfrm>
            <a:off x="7200900" y="146304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Weather feed</a:t>
            </a:r>
            <a:endParaRPr lang="en-US" sz="1600" dirty="0"/>
          </a:p>
        </p:txBody>
      </p:sp>
      <p:sp>
        <p:nvSpPr>
          <p:cNvPr id="12" name="Shape 9"/>
          <p:cNvSpPr/>
          <p:nvPr/>
        </p:nvSpPr>
        <p:spPr>
          <a:xfrm>
            <a:off x="9521190" y="1463040"/>
            <a:ext cx="2137410" cy="1005840"/>
          </a:xfrm>
          <a:prstGeom prst="roundRect">
            <a:avLst>
              <a:gd name="adj" fmla="val 9091"/>
            </a:avLst>
          </a:prstGeom>
          <a:solidFill>
            <a:srgbClr val="EEF2F5"/>
          </a:solidFill>
          <a:ln w="19050">
            <a:solidFill>
              <a:srgbClr val="7B8A97"/>
            </a:solidFill>
            <a:prstDash val="dash"/>
          </a:ln>
        </p:spPr>
      </p:sp>
      <p:sp>
        <p:nvSpPr>
          <p:cNvPr id="13" name="Text 10"/>
          <p:cNvSpPr txBox="1"/>
          <p:nvPr/>
        </p:nvSpPr>
        <p:spPr>
          <a:xfrm>
            <a:off x="9521190" y="146304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Earthquake catalog</a:t>
            </a:r>
            <a:endParaRPr lang="en-US" sz="1600" dirty="0"/>
          </a:p>
        </p:txBody>
      </p:sp>
      <p:sp>
        <p:nvSpPr>
          <p:cNvPr id="14" name="Shape 11"/>
          <p:cNvSpPr/>
          <p:nvPr/>
        </p:nvSpPr>
        <p:spPr>
          <a:xfrm>
            <a:off x="548640" y="2697480"/>
            <a:ext cx="1828800" cy="1005840"/>
          </a:xfrm>
          <a:prstGeom prst="roundRect">
            <a:avLst>
              <a:gd name="adj" fmla="val 9091"/>
            </a:avLst>
          </a:prstGeom>
          <a:solidFill>
            <a:srgbClr val="0D6B73"/>
          </a:solidFill>
          <a:ln w="12700">
            <a:solidFill>
              <a:srgbClr val="0D6B73"/>
            </a:solidFill>
            <a:prstDash val="solid"/>
          </a:ln>
        </p:spPr>
      </p:sp>
      <p:sp>
        <p:nvSpPr>
          <p:cNvPr id="15" name="Text 12"/>
          <p:cNvSpPr txBox="1"/>
          <p:nvPr/>
        </p:nvSpPr>
        <p:spPr>
          <a:xfrm>
            <a:off x="548640" y="2697480"/>
            <a:ext cx="1828800" cy="10058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THINK</a:t>
            </a:r>
            <a:endParaRPr lang="en-US" sz="2200" dirty="0"/>
          </a:p>
        </p:txBody>
      </p:sp>
      <p:sp>
        <p:nvSpPr>
          <p:cNvPr id="16" name="Shape 13"/>
          <p:cNvSpPr/>
          <p:nvPr/>
        </p:nvSpPr>
        <p:spPr>
          <a:xfrm>
            <a:off x="2560320" y="2697480"/>
            <a:ext cx="2137410" cy="1005840"/>
          </a:xfrm>
          <a:prstGeom prst="roundRect">
            <a:avLst>
              <a:gd name="adj" fmla="val 9091"/>
            </a:avLst>
          </a:prstGeom>
          <a:solidFill>
            <a:srgbClr val="FFFFFF"/>
          </a:solidFill>
          <a:ln w="19050">
            <a:solidFill>
              <a:srgbClr val="0D6B73"/>
            </a:solidFill>
            <a:prstDash val="solid"/>
          </a:ln>
        </p:spPr>
      </p:sp>
      <p:sp>
        <p:nvSpPr>
          <p:cNvPr id="17" name="Text 14"/>
          <p:cNvSpPr txBox="1"/>
          <p:nvPr/>
        </p:nvSpPr>
        <p:spPr>
          <a:xfrm>
            <a:off x="2560320" y="269748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Flood</a:t>
            </a:r>
            <a:endParaRPr lang="en-US" sz="1600" dirty="0"/>
          </a:p>
        </p:txBody>
      </p:sp>
      <p:sp>
        <p:nvSpPr>
          <p:cNvPr id="18" name="Shape 15"/>
          <p:cNvSpPr/>
          <p:nvPr/>
        </p:nvSpPr>
        <p:spPr>
          <a:xfrm>
            <a:off x="4880610" y="2697480"/>
            <a:ext cx="2137410" cy="1005840"/>
          </a:xfrm>
          <a:prstGeom prst="roundRect">
            <a:avLst>
              <a:gd name="adj" fmla="val 9091"/>
            </a:avLst>
          </a:prstGeom>
          <a:solidFill>
            <a:srgbClr val="FFFFFF"/>
          </a:solidFill>
          <a:ln w="19050">
            <a:solidFill>
              <a:srgbClr val="0D6B73"/>
            </a:solidFill>
            <a:prstDash val="solid"/>
          </a:ln>
        </p:spPr>
      </p:sp>
      <p:sp>
        <p:nvSpPr>
          <p:cNvPr id="19" name="Text 16"/>
          <p:cNvSpPr txBox="1"/>
          <p:nvPr/>
        </p:nvSpPr>
        <p:spPr>
          <a:xfrm>
            <a:off x="4880610" y="269748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Earthquake</a:t>
            </a:r>
            <a:endParaRPr lang="en-US" sz="1600" dirty="0"/>
          </a:p>
        </p:txBody>
      </p:sp>
      <p:sp>
        <p:nvSpPr>
          <p:cNvPr id="20" name="Shape 17"/>
          <p:cNvSpPr/>
          <p:nvPr/>
        </p:nvSpPr>
        <p:spPr>
          <a:xfrm>
            <a:off x="7200900" y="2697480"/>
            <a:ext cx="2137410" cy="1005840"/>
          </a:xfrm>
          <a:prstGeom prst="roundRect">
            <a:avLst>
              <a:gd name="adj" fmla="val 9091"/>
            </a:avLst>
          </a:prstGeom>
          <a:solidFill>
            <a:srgbClr val="FFFFFF"/>
          </a:solidFill>
          <a:ln w="19050">
            <a:solidFill>
              <a:srgbClr val="0D6B73"/>
            </a:solidFill>
            <a:prstDash val="solid"/>
          </a:ln>
        </p:spPr>
      </p:sp>
      <p:sp>
        <p:nvSpPr>
          <p:cNvPr id="21" name="Text 18"/>
          <p:cNvSpPr txBox="1"/>
          <p:nvPr/>
        </p:nvSpPr>
        <p:spPr>
          <a:xfrm>
            <a:off x="7200900" y="269748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Storm</a:t>
            </a:r>
            <a:endParaRPr lang="en-US" sz="1600" dirty="0"/>
          </a:p>
        </p:txBody>
      </p:sp>
      <p:sp>
        <p:nvSpPr>
          <p:cNvPr id="22" name="Shape 19"/>
          <p:cNvSpPr/>
          <p:nvPr/>
        </p:nvSpPr>
        <p:spPr>
          <a:xfrm>
            <a:off x="9521190" y="2697480"/>
            <a:ext cx="2137410" cy="1005840"/>
          </a:xfrm>
          <a:prstGeom prst="roundRect">
            <a:avLst>
              <a:gd name="adj" fmla="val 9091"/>
            </a:avLst>
          </a:prstGeom>
          <a:solidFill>
            <a:srgbClr val="FFFFFF"/>
          </a:solidFill>
          <a:ln w="19050">
            <a:solidFill>
              <a:srgbClr val="0D6B73"/>
            </a:solidFill>
            <a:prstDash val="solid"/>
          </a:ln>
        </p:spPr>
      </p:sp>
      <p:sp>
        <p:nvSpPr>
          <p:cNvPr id="23" name="Text 20"/>
          <p:cNvSpPr txBox="1"/>
          <p:nvPr/>
        </p:nvSpPr>
        <p:spPr>
          <a:xfrm>
            <a:off x="9521190" y="2697480"/>
            <a:ext cx="213741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Tsunami</a:t>
            </a:r>
            <a:endParaRPr lang="en-US" sz="1600" dirty="0"/>
          </a:p>
        </p:txBody>
      </p:sp>
      <p:sp>
        <p:nvSpPr>
          <p:cNvPr id="24" name="Shape 21"/>
          <p:cNvSpPr/>
          <p:nvPr/>
        </p:nvSpPr>
        <p:spPr>
          <a:xfrm>
            <a:off x="548640" y="3931920"/>
            <a:ext cx="1828800" cy="1005840"/>
          </a:xfrm>
          <a:prstGeom prst="roundRect">
            <a:avLst>
              <a:gd name="adj" fmla="val 9091"/>
            </a:avLst>
          </a:prstGeom>
          <a:solidFill>
            <a:srgbClr val="C8401A"/>
          </a:solidFill>
          <a:ln w="12700">
            <a:solidFill>
              <a:srgbClr val="C8401A"/>
            </a:solidFill>
            <a:prstDash val="solid"/>
          </a:ln>
        </p:spPr>
      </p:sp>
      <p:sp>
        <p:nvSpPr>
          <p:cNvPr id="25" name="Text 22"/>
          <p:cNvSpPr txBox="1"/>
          <p:nvPr/>
        </p:nvSpPr>
        <p:spPr>
          <a:xfrm>
            <a:off x="548640" y="3931920"/>
            <a:ext cx="1828800" cy="10058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ACT</a:t>
            </a:r>
            <a:endParaRPr lang="en-US" sz="2200" dirty="0"/>
          </a:p>
        </p:txBody>
      </p:sp>
      <p:sp>
        <p:nvSpPr>
          <p:cNvPr id="26" name="Shape 23"/>
          <p:cNvSpPr/>
          <p:nvPr/>
        </p:nvSpPr>
        <p:spPr>
          <a:xfrm>
            <a:off x="2560320" y="3931920"/>
            <a:ext cx="2910840" cy="1005840"/>
          </a:xfrm>
          <a:prstGeom prst="roundRect">
            <a:avLst>
              <a:gd name="adj" fmla="val 9091"/>
            </a:avLst>
          </a:prstGeom>
          <a:solidFill>
            <a:srgbClr val="FFFFFF"/>
          </a:solidFill>
          <a:ln w="19050">
            <a:solidFill>
              <a:srgbClr val="C8401A"/>
            </a:solidFill>
            <a:prstDash val="solid"/>
          </a:ln>
        </p:spPr>
      </p:sp>
      <p:sp>
        <p:nvSpPr>
          <p:cNvPr id="27" name="Text 24"/>
          <p:cNvSpPr txBox="1"/>
          <p:nvPr/>
        </p:nvSpPr>
        <p:spPr>
          <a:xfrm>
            <a:off x="2560320" y="393192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Combine + explain</a:t>
            </a:r>
            <a:endParaRPr lang="en-US" sz="1600" dirty="0"/>
          </a:p>
        </p:txBody>
      </p:sp>
      <p:sp>
        <p:nvSpPr>
          <p:cNvPr id="28" name="Shape 25"/>
          <p:cNvSpPr/>
          <p:nvPr/>
        </p:nvSpPr>
        <p:spPr>
          <a:xfrm>
            <a:off x="5654040" y="3931920"/>
            <a:ext cx="2910840" cy="1005840"/>
          </a:xfrm>
          <a:prstGeom prst="roundRect">
            <a:avLst>
              <a:gd name="adj" fmla="val 9091"/>
            </a:avLst>
          </a:prstGeom>
          <a:solidFill>
            <a:srgbClr val="FFFFFF"/>
          </a:solidFill>
          <a:ln w="19050">
            <a:solidFill>
              <a:srgbClr val="C8401A"/>
            </a:solidFill>
            <a:prstDash val="solid"/>
          </a:ln>
        </p:spPr>
      </p:sp>
      <p:sp>
        <p:nvSpPr>
          <p:cNvPr id="29" name="Text 26"/>
          <p:cNvSpPr txBox="1"/>
          <p:nvPr/>
        </p:nvSpPr>
        <p:spPr>
          <a:xfrm>
            <a:off x="5654040" y="393192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Alert dispatcher</a:t>
            </a:r>
            <a:endParaRPr lang="en-US" sz="1600" dirty="0"/>
          </a:p>
        </p:txBody>
      </p:sp>
      <p:sp>
        <p:nvSpPr>
          <p:cNvPr id="30" name="Shape 27"/>
          <p:cNvSpPr/>
          <p:nvPr/>
        </p:nvSpPr>
        <p:spPr>
          <a:xfrm>
            <a:off x="8747760" y="3931920"/>
            <a:ext cx="2910840" cy="1005840"/>
          </a:xfrm>
          <a:prstGeom prst="roundRect">
            <a:avLst>
              <a:gd name="adj" fmla="val 9091"/>
            </a:avLst>
          </a:prstGeom>
          <a:solidFill>
            <a:srgbClr val="FFFFFF"/>
          </a:solidFill>
          <a:ln w="19050">
            <a:solidFill>
              <a:srgbClr val="C8401A"/>
            </a:solidFill>
            <a:prstDash val="solid"/>
          </a:ln>
        </p:spPr>
      </p:sp>
      <p:sp>
        <p:nvSpPr>
          <p:cNvPr id="31" name="Text 28"/>
          <p:cNvSpPr txBox="1"/>
          <p:nvPr/>
        </p:nvSpPr>
        <p:spPr>
          <a:xfrm>
            <a:off x="8747760" y="393192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SQLite storage</a:t>
            </a:r>
            <a:endParaRPr lang="en-US" sz="1600" dirty="0"/>
          </a:p>
        </p:txBody>
      </p:sp>
      <p:sp>
        <p:nvSpPr>
          <p:cNvPr id="32" name="Shape 29"/>
          <p:cNvSpPr/>
          <p:nvPr/>
        </p:nvSpPr>
        <p:spPr>
          <a:xfrm>
            <a:off x="548640" y="5166360"/>
            <a:ext cx="1828800" cy="1005840"/>
          </a:xfrm>
          <a:prstGeom prst="roundRect">
            <a:avLst>
              <a:gd name="adj" fmla="val 9091"/>
            </a:avLst>
          </a:prstGeom>
          <a:solidFill>
            <a:srgbClr val="0F2530"/>
          </a:solidFill>
          <a:ln w="12700">
            <a:solidFill>
              <a:srgbClr val="0F2530"/>
            </a:solidFill>
            <a:prstDash val="solid"/>
          </a:ln>
        </p:spPr>
      </p:sp>
      <p:sp>
        <p:nvSpPr>
          <p:cNvPr id="33" name="Text 30"/>
          <p:cNvSpPr txBox="1"/>
          <p:nvPr/>
        </p:nvSpPr>
        <p:spPr>
          <a:xfrm>
            <a:off x="548640" y="5166360"/>
            <a:ext cx="1828800" cy="10058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SHOW</a:t>
            </a:r>
            <a:endParaRPr lang="en-US" sz="2200" dirty="0"/>
          </a:p>
        </p:txBody>
      </p:sp>
      <p:sp>
        <p:nvSpPr>
          <p:cNvPr id="34" name="Shape 31"/>
          <p:cNvSpPr/>
          <p:nvPr/>
        </p:nvSpPr>
        <p:spPr>
          <a:xfrm>
            <a:off x="2560320" y="5166360"/>
            <a:ext cx="2910840" cy="1005840"/>
          </a:xfrm>
          <a:prstGeom prst="roundRect">
            <a:avLst>
              <a:gd name="adj" fmla="val 9091"/>
            </a:avLst>
          </a:prstGeom>
          <a:solidFill>
            <a:srgbClr val="FFFFFF"/>
          </a:solidFill>
          <a:ln w="19050">
            <a:solidFill>
              <a:srgbClr val="0F2530"/>
            </a:solidFill>
            <a:prstDash val="solid"/>
          </a:ln>
        </p:spPr>
      </p:sp>
      <p:sp>
        <p:nvSpPr>
          <p:cNvPr id="35" name="Text 32"/>
          <p:cNvSpPr txBox="1"/>
          <p:nvPr/>
        </p:nvSpPr>
        <p:spPr>
          <a:xfrm>
            <a:off x="2560320" y="516636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FastAPI server</a:t>
            </a:r>
            <a:endParaRPr lang="en-US" sz="1600" dirty="0"/>
          </a:p>
        </p:txBody>
      </p:sp>
      <p:sp>
        <p:nvSpPr>
          <p:cNvPr id="36" name="Shape 33"/>
          <p:cNvSpPr/>
          <p:nvPr/>
        </p:nvSpPr>
        <p:spPr>
          <a:xfrm>
            <a:off x="5654040" y="5166360"/>
            <a:ext cx="2910840" cy="1005840"/>
          </a:xfrm>
          <a:prstGeom prst="roundRect">
            <a:avLst>
              <a:gd name="adj" fmla="val 9091"/>
            </a:avLst>
          </a:prstGeom>
          <a:solidFill>
            <a:srgbClr val="FFFFFF"/>
          </a:solidFill>
          <a:ln w="19050">
            <a:solidFill>
              <a:srgbClr val="0F2530"/>
            </a:solidFill>
            <a:prstDash val="solid"/>
          </a:ln>
        </p:spPr>
      </p:sp>
      <p:sp>
        <p:nvSpPr>
          <p:cNvPr id="37" name="Text 34"/>
          <p:cNvSpPr txBox="1"/>
          <p:nvPr/>
        </p:nvSpPr>
        <p:spPr>
          <a:xfrm>
            <a:off x="5654040" y="516636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Phone-style web app</a:t>
            </a:r>
            <a:endParaRPr lang="en-US" sz="1600" dirty="0"/>
          </a:p>
        </p:txBody>
      </p:sp>
      <p:sp>
        <p:nvSpPr>
          <p:cNvPr id="38" name="Shape 35"/>
          <p:cNvSpPr/>
          <p:nvPr/>
        </p:nvSpPr>
        <p:spPr>
          <a:xfrm>
            <a:off x="8747760" y="5166360"/>
            <a:ext cx="2910840" cy="1005840"/>
          </a:xfrm>
          <a:prstGeom prst="roundRect">
            <a:avLst>
              <a:gd name="adj" fmla="val 9091"/>
            </a:avLst>
          </a:prstGeom>
          <a:solidFill>
            <a:srgbClr val="FFFFFF"/>
          </a:solidFill>
          <a:ln w="19050">
            <a:solidFill>
              <a:srgbClr val="0F2530"/>
            </a:solidFill>
            <a:prstDash val="solid"/>
          </a:ln>
        </p:spPr>
      </p:sp>
      <p:sp>
        <p:nvSpPr>
          <p:cNvPr id="39" name="Text 36"/>
          <p:cNvSpPr txBox="1"/>
          <p:nvPr/>
        </p:nvSpPr>
        <p:spPr>
          <a:xfrm>
            <a:off x="8747760" y="5166360"/>
            <a:ext cx="2910840" cy="1005840"/>
          </a:xfrm>
          <a:prstGeom prst="rect">
            <a:avLst/>
          </a:prstGeom>
          <a:noFill/>
          <a:ln/>
        </p:spPr>
        <p:txBody>
          <a:bodyPr wrap="square" lIns="50800" tIns="50800" rIns="50800" bIns="50800" rtlCol="0" anchor="ctr"/>
          <a:lstStyle/>
          <a:p>
            <a:pPr algn="ctr" indent="0" marL="0">
              <a:buNone/>
            </a:pPr>
            <a:r>
              <a:rPr lang="en-US" sz="1600" b="1" dirty="0">
                <a:solidFill>
                  <a:srgbClr val="0F2530"/>
                </a:solidFill>
                <a:latin typeface="Calibri" pitchFamily="34" charset="0"/>
                <a:ea typeface="Calibri" pitchFamily="34" charset="-122"/>
                <a:cs typeface="Calibri" pitchFamily="34" charset="-120"/>
              </a:rPr>
              <a:t>Shelter · SOS · Report</a:t>
            </a:r>
            <a:endParaRPr lang="en-US" sz="1600" dirty="0"/>
          </a:p>
        </p:txBody>
      </p:sp>
      <p:sp>
        <p:nvSpPr>
          <p:cNvPr id="40" name="Text 37"/>
          <p:cNvSpPr txBox="1"/>
          <p:nvPr/>
        </p:nvSpPr>
        <p:spPr>
          <a:xfrm>
            <a:off x="2560320" y="6400800"/>
            <a:ext cx="8229600" cy="320040"/>
          </a:xfrm>
          <a:prstGeom prst="rect">
            <a:avLst/>
          </a:prstGeom>
          <a:noFill/>
          <a:ln/>
        </p:spPr>
        <p:txBody>
          <a:bodyPr wrap="square" lIns="50800" tIns="50800" rIns="50800" bIns="50800" rtlCol="0" anchor="t"/>
          <a:lstStyle/>
          <a:p>
            <a:pPr algn="l" indent="0" marL="0">
              <a:buNone/>
            </a:pPr>
            <a:r>
              <a:rPr lang="en-US" sz="1200" dirty="0">
                <a:solidFill>
                  <a:srgbClr val="4A5B69"/>
                </a:solidFill>
                <a:latin typeface="Calibri" pitchFamily="34" charset="0"/>
                <a:ea typeface="Calibri" pitchFamily="34" charset="-122"/>
                <a:cs typeface="Calibri" pitchFamily="34" charset="-120"/>
              </a:rPr>
              <a:t>Dashed = online extra. Everything else works with no internet.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One cycle, every five seconds</a:t>
            </a:r>
            <a:endParaRPr lang="en-US" sz="3400" dirty="0"/>
          </a:p>
        </p:txBody>
      </p:sp>
      <p:sp>
        <p:nvSpPr>
          <p:cNvPr id="4" name="Shape 1"/>
          <p:cNvSpPr/>
          <p:nvPr/>
        </p:nvSpPr>
        <p:spPr>
          <a:xfrm>
            <a:off x="612648" y="1920240"/>
            <a:ext cx="1371600" cy="210312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1024128" y="2103120"/>
            <a:ext cx="548640" cy="548640"/>
          </a:xfrm>
          <a:prstGeom prst="ellipse">
            <a:avLst/>
          </a:prstGeom>
          <a:solidFill>
            <a:srgbClr val="0D6B73"/>
          </a:solidFill>
          <a:ln w="12700">
            <a:solidFill>
              <a:srgbClr val="0D6B73"/>
            </a:solidFill>
            <a:prstDash val="solid"/>
          </a:ln>
        </p:spPr>
      </p:sp>
      <p:sp>
        <p:nvSpPr>
          <p:cNvPr id="6" name="Text 3"/>
          <p:cNvSpPr txBox="1"/>
          <p:nvPr/>
        </p:nvSpPr>
        <p:spPr>
          <a:xfrm>
            <a:off x="10241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6126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Read</a:t>
            </a:r>
            <a:endParaRPr lang="en-US" sz="1700" dirty="0"/>
          </a:p>
        </p:txBody>
      </p:sp>
      <p:sp>
        <p:nvSpPr>
          <p:cNvPr id="8" name="Text 5"/>
          <p:cNvSpPr txBox="1"/>
          <p:nvPr/>
        </p:nvSpPr>
        <p:spPr>
          <a:xfrm>
            <a:off x="6583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6 sensors + GPS</a:t>
            </a:r>
            <a:endParaRPr lang="en-US" sz="1200" dirty="0"/>
          </a:p>
        </p:txBody>
      </p:sp>
      <p:sp>
        <p:nvSpPr>
          <p:cNvPr id="9" name="Shape 6"/>
          <p:cNvSpPr/>
          <p:nvPr/>
        </p:nvSpPr>
        <p:spPr>
          <a:xfrm>
            <a:off x="2002536" y="2971800"/>
            <a:ext cx="192024" cy="0"/>
          </a:xfrm>
          <a:prstGeom prst="line">
            <a:avLst/>
          </a:prstGeom>
          <a:noFill/>
          <a:ln w="22225">
            <a:solidFill>
              <a:srgbClr val="4A5B69"/>
            </a:solidFill>
            <a:prstDash val="solid"/>
            <a:tailEnd type="triangle"/>
          </a:ln>
        </p:spPr>
      </p:sp>
      <p:sp>
        <p:nvSpPr>
          <p:cNvPr id="10" name="Shape 7"/>
          <p:cNvSpPr/>
          <p:nvPr/>
        </p:nvSpPr>
        <p:spPr>
          <a:xfrm>
            <a:off x="2212848" y="1920240"/>
            <a:ext cx="1371600" cy="210312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624328" y="2103120"/>
            <a:ext cx="548640" cy="548640"/>
          </a:xfrm>
          <a:prstGeom prst="ellipse">
            <a:avLst/>
          </a:prstGeom>
          <a:solidFill>
            <a:srgbClr val="0D6B73"/>
          </a:solidFill>
          <a:ln w="12700">
            <a:solidFill>
              <a:srgbClr val="0D6B73"/>
            </a:solidFill>
            <a:prstDash val="solid"/>
          </a:ln>
        </p:spPr>
      </p:sp>
      <p:sp>
        <p:nvSpPr>
          <p:cNvPr id="12" name="Text 9"/>
          <p:cNvSpPr txBox="1"/>
          <p:nvPr/>
        </p:nvSpPr>
        <p:spPr>
          <a:xfrm>
            <a:off x="26243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22128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Save</a:t>
            </a:r>
            <a:endParaRPr lang="en-US" sz="1700" dirty="0"/>
          </a:p>
        </p:txBody>
      </p:sp>
      <p:sp>
        <p:nvSpPr>
          <p:cNvPr id="14" name="Text 11"/>
          <p:cNvSpPr txBox="1"/>
          <p:nvPr/>
        </p:nvSpPr>
        <p:spPr>
          <a:xfrm>
            <a:off x="22585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SQLite, synced flag</a:t>
            </a:r>
            <a:endParaRPr lang="en-US" sz="1200" dirty="0"/>
          </a:p>
        </p:txBody>
      </p:sp>
      <p:sp>
        <p:nvSpPr>
          <p:cNvPr id="15" name="Shape 12"/>
          <p:cNvSpPr/>
          <p:nvPr/>
        </p:nvSpPr>
        <p:spPr>
          <a:xfrm>
            <a:off x="3602736" y="2971800"/>
            <a:ext cx="192024" cy="0"/>
          </a:xfrm>
          <a:prstGeom prst="line">
            <a:avLst/>
          </a:prstGeom>
          <a:noFill/>
          <a:ln w="22225">
            <a:solidFill>
              <a:srgbClr val="4A5B69"/>
            </a:solidFill>
            <a:prstDash val="solid"/>
            <a:tailEnd type="triangle"/>
          </a:ln>
        </p:spPr>
      </p:sp>
      <p:sp>
        <p:nvSpPr>
          <p:cNvPr id="16" name="Shape 13"/>
          <p:cNvSpPr/>
          <p:nvPr/>
        </p:nvSpPr>
        <p:spPr>
          <a:xfrm>
            <a:off x="3813048" y="1920240"/>
            <a:ext cx="1371600" cy="2103120"/>
          </a:xfrm>
          <a:prstGeom prst="roundRect">
            <a:avLst>
              <a:gd name="adj" fmla="val 8000"/>
            </a:avLst>
          </a:prstGeom>
          <a:solidFill>
            <a:srgbClr val="EEF2F5"/>
          </a:solidFill>
          <a:ln w="19050">
            <a:solidFill>
              <a:srgbClr val="7B8A97"/>
            </a:solidFill>
            <a:prstDash val="dash"/>
          </a:ln>
        </p:spPr>
      </p:sp>
      <p:sp>
        <p:nvSpPr>
          <p:cNvPr id="17" name="Shape 14"/>
          <p:cNvSpPr/>
          <p:nvPr/>
        </p:nvSpPr>
        <p:spPr>
          <a:xfrm>
            <a:off x="4224528" y="2103120"/>
            <a:ext cx="548640" cy="548640"/>
          </a:xfrm>
          <a:prstGeom prst="ellipse">
            <a:avLst/>
          </a:prstGeom>
          <a:solidFill>
            <a:srgbClr val="0D6B73"/>
          </a:solidFill>
          <a:ln w="12700">
            <a:solidFill>
              <a:srgbClr val="0D6B73"/>
            </a:solidFill>
            <a:prstDash val="solid"/>
          </a:ln>
        </p:spPr>
      </p:sp>
      <p:sp>
        <p:nvSpPr>
          <p:cNvPr id="18" name="Text 15"/>
          <p:cNvSpPr txBox="1"/>
          <p:nvPr/>
        </p:nvSpPr>
        <p:spPr>
          <a:xfrm>
            <a:off x="42245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38130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Weather</a:t>
            </a:r>
            <a:endParaRPr lang="en-US" sz="1700" dirty="0"/>
          </a:p>
        </p:txBody>
      </p:sp>
      <p:sp>
        <p:nvSpPr>
          <p:cNvPr id="20" name="Text 17"/>
          <p:cNvSpPr txBox="1"/>
          <p:nvPr/>
        </p:nvSpPr>
        <p:spPr>
          <a:xfrm>
            <a:off x="38587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only if online</a:t>
            </a:r>
            <a:endParaRPr lang="en-US" sz="1200" dirty="0"/>
          </a:p>
        </p:txBody>
      </p:sp>
      <p:sp>
        <p:nvSpPr>
          <p:cNvPr id="21" name="Shape 18"/>
          <p:cNvSpPr/>
          <p:nvPr/>
        </p:nvSpPr>
        <p:spPr>
          <a:xfrm>
            <a:off x="5202936" y="2971800"/>
            <a:ext cx="192024" cy="0"/>
          </a:xfrm>
          <a:prstGeom prst="line">
            <a:avLst/>
          </a:prstGeom>
          <a:noFill/>
          <a:ln w="22225">
            <a:solidFill>
              <a:srgbClr val="4A5B69"/>
            </a:solidFill>
            <a:prstDash val="solid"/>
            <a:tailEnd type="triangle"/>
          </a:ln>
        </p:spPr>
      </p:sp>
      <p:sp>
        <p:nvSpPr>
          <p:cNvPr id="22" name="Shape 19"/>
          <p:cNvSpPr/>
          <p:nvPr/>
        </p:nvSpPr>
        <p:spPr>
          <a:xfrm>
            <a:off x="5413248" y="1920240"/>
            <a:ext cx="1371600" cy="210312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23" name="Shape 20"/>
          <p:cNvSpPr/>
          <p:nvPr/>
        </p:nvSpPr>
        <p:spPr>
          <a:xfrm>
            <a:off x="5824728" y="2103120"/>
            <a:ext cx="548640" cy="548640"/>
          </a:xfrm>
          <a:prstGeom prst="ellipse">
            <a:avLst/>
          </a:prstGeom>
          <a:solidFill>
            <a:srgbClr val="0D6B73"/>
          </a:solidFill>
          <a:ln w="12700">
            <a:solidFill>
              <a:srgbClr val="0D6B73"/>
            </a:solidFill>
            <a:prstDash val="solid"/>
          </a:ln>
        </p:spPr>
      </p:sp>
      <p:sp>
        <p:nvSpPr>
          <p:cNvPr id="24" name="Text 21"/>
          <p:cNvSpPr txBox="1"/>
          <p:nvPr/>
        </p:nvSpPr>
        <p:spPr>
          <a:xfrm>
            <a:off x="58247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54132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Detect</a:t>
            </a:r>
            <a:endParaRPr lang="en-US" sz="1700" dirty="0"/>
          </a:p>
        </p:txBody>
      </p:sp>
      <p:sp>
        <p:nvSpPr>
          <p:cNvPr id="26" name="Text 23"/>
          <p:cNvSpPr txBox="1"/>
          <p:nvPr/>
        </p:nvSpPr>
        <p:spPr>
          <a:xfrm>
            <a:off x="54589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4 rule checks</a:t>
            </a:r>
            <a:endParaRPr lang="en-US" sz="1200" dirty="0"/>
          </a:p>
        </p:txBody>
      </p:sp>
      <p:sp>
        <p:nvSpPr>
          <p:cNvPr id="27" name="Shape 24"/>
          <p:cNvSpPr/>
          <p:nvPr/>
        </p:nvSpPr>
        <p:spPr>
          <a:xfrm>
            <a:off x="6803136" y="2971800"/>
            <a:ext cx="192024" cy="0"/>
          </a:xfrm>
          <a:prstGeom prst="line">
            <a:avLst/>
          </a:prstGeom>
          <a:noFill/>
          <a:ln w="22225">
            <a:solidFill>
              <a:srgbClr val="4A5B69"/>
            </a:solidFill>
            <a:prstDash val="solid"/>
            <a:tailEnd type="triangle"/>
          </a:ln>
        </p:spPr>
      </p:sp>
      <p:sp>
        <p:nvSpPr>
          <p:cNvPr id="28" name="Shape 25"/>
          <p:cNvSpPr/>
          <p:nvPr/>
        </p:nvSpPr>
        <p:spPr>
          <a:xfrm>
            <a:off x="7013448" y="1920240"/>
            <a:ext cx="1371600" cy="210312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29" name="Shape 26"/>
          <p:cNvSpPr/>
          <p:nvPr/>
        </p:nvSpPr>
        <p:spPr>
          <a:xfrm>
            <a:off x="7424928" y="2103120"/>
            <a:ext cx="548640" cy="548640"/>
          </a:xfrm>
          <a:prstGeom prst="ellipse">
            <a:avLst/>
          </a:prstGeom>
          <a:solidFill>
            <a:srgbClr val="0D6B73"/>
          </a:solidFill>
          <a:ln w="12700">
            <a:solidFill>
              <a:srgbClr val="0D6B73"/>
            </a:solidFill>
            <a:prstDash val="solid"/>
          </a:ln>
        </p:spPr>
      </p:sp>
      <p:sp>
        <p:nvSpPr>
          <p:cNvPr id="30" name="Text 27"/>
          <p:cNvSpPr txBox="1"/>
          <p:nvPr/>
        </p:nvSpPr>
        <p:spPr>
          <a:xfrm>
            <a:off x="74249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28"/>
          <p:cNvSpPr txBox="1"/>
          <p:nvPr/>
        </p:nvSpPr>
        <p:spPr>
          <a:xfrm>
            <a:off x="70134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Pick worst</a:t>
            </a:r>
            <a:endParaRPr lang="en-US" sz="1700" dirty="0"/>
          </a:p>
        </p:txBody>
      </p:sp>
      <p:sp>
        <p:nvSpPr>
          <p:cNvPr id="32" name="Text 29"/>
          <p:cNvSpPr txBox="1"/>
          <p:nvPr/>
        </p:nvSpPr>
        <p:spPr>
          <a:xfrm>
            <a:off x="70591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priority order</a:t>
            </a:r>
            <a:endParaRPr lang="en-US" sz="1200" dirty="0"/>
          </a:p>
        </p:txBody>
      </p:sp>
      <p:sp>
        <p:nvSpPr>
          <p:cNvPr id="33" name="Shape 30"/>
          <p:cNvSpPr/>
          <p:nvPr/>
        </p:nvSpPr>
        <p:spPr>
          <a:xfrm>
            <a:off x="8403336" y="2971800"/>
            <a:ext cx="192024" cy="0"/>
          </a:xfrm>
          <a:prstGeom prst="line">
            <a:avLst/>
          </a:prstGeom>
          <a:noFill/>
          <a:ln w="22225">
            <a:solidFill>
              <a:srgbClr val="4A5B69"/>
            </a:solidFill>
            <a:prstDash val="solid"/>
            <a:tailEnd type="triangle"/>
          </a:ln>
        </p:spPr>
      </p:sp>
      <p:sp>
        <p:nvSpPr>
          <p:cNvPr id="34" name="Shape 31"/>
          <p:cNvSpPr/>
          <p:nvPr/>
        </p:nvSpPr>
        <p:spPr>
          <a:xfrm>
            <a:off x="8613648" y="1920240"/>
            <a:ext cx="1371600" cy="2103120"/>
          </a:xfrm>
          <a:prstGeom prst="roundRect">
            <a:avLst>
              <a:gd name="adj" fmla="val 8000"/>
            </a:avLst>
          </a:prstGeom>
          <a:solidFill>
            <a:srgbClr val="FBE9E2"/>
          </a:solidFill>
          <a:ln w="19050">
            <a:solidFill>
              <a:srgbClr val="C8401A"/>
            </a:solidFill>
            <a:prstDash val="solid"/>
          </a:ln>
          <a:effectLst>
            <a:outerShdw sx="100000" sy="100000" kx="0" ky="0" algn="bl" rotWithShape="0" blurRad="101600" dist="25400" dir="5400000">
              <a:srgbClr val="000000">
                <a:alpha val="12000"/>
              </a:srgbClr>
            </a:outerShdw>
          </a:effectLst>
        </p:spPr>
      </p:sp>
      <p:sp>
        <p:nvSpPr>
          <p:cNvPr id="35" name="Shape 32"/>
          <p:cNvSpPr/>
          <p:nvPr/>
        </p:nvSpPr>
        <p:spPr>
          <a:xfrm>
            <a:off x="9025128" y="2103120"/>
            <a:ext cx="548640" cy="548640"/>
          </a:xfrm>
          <a:prstGeom prst="ellipse">
            <a:avLst/>
          </a:prstGeom>
          <a:solidFill>
            <a:srgbClr val="C8401A"/>
          </a:solidFill>
          <a:ln w="12700">
            <a:solidFill>
              <a:srgbClr val="C8401A"/>
            </a:solidFill>
            <a:prstDash val="solid"/>
          </a:ln>
        </p:spPr>
      </p:sp>
      <p:sp>
        <p:nvSpPr>
          <p:cNvPr id="36" name="Text 33"/>
          <p:cNvSpPr txBox="1"/>
          <p:nvPr/>
        </p:nvSpPr>
        <p:spPr>
          <a:xfrm>
            <a:off x="90251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7" name="Text 34"/>
          <p:cNvSpPr txBox="1"/>
          <p:nvPr/>
        </p:nvSpPr>
        <p:spPr>
          <a:xfrm>
            <a:off x="86136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Alert</a:t>
            </a:r>
            <a:endParaRPr lang="en-US" sz="1700" dirty="0"/>
          </a:p>
        </p:txBody>
      </p:sp>
      <p:sp>
        <p:nvSpPr>
          <p:cNvPr id="38" name="Text 35"/>
          <p:cNvSpPr txBox="1"/>
          <p:nvPr/>
        </p:nvSpPr>
        <p:spPr>
          <a:xfrm>
            <a:off x="86593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buzzer · SMS · push</a:t>
            </a:r>
            <a:endParaRPr lang="en-US" sz="1200" dirty="0"/>
          </a:p>
        </p:txBody>
      </p:sp>
      <p:sp>
        <p:nvSpPr>
          <p:cNvPr id="39" name="Shape 36"/>
          <p:cNvSpPr/>
          <p:nvPr/>
        </p:nvSpPr>
        <p:spPr>
          <a:xfrm>
            <a:off x="10003536" y="2971800"/>
            <a:ext cx="192024" cy="0"/>
          </a:xfrm>
          <a:prstGeom prst="line">
            <a:avLst/>
          </a:prstGeom>
          <a:noFill/>
          <a:ln w="22225">
            <a:solidFill>
              <a:srgbClr val="4A5B69"/>
            </a:solidFill>
            <a:prstDash val="solid"/>
            <a:tailEnd type="triangle"/>
          </a:ln>
        </p:spPr>
      </p:sp>
      <p:sp>
        <p:nvSpPr>
          <p:cNvPr id="40" name="Shape 37"/>
          <p:cNvSpPr/>
          <p:nvPr/>
        </p:nvSpPr>
        <p:spPr>
          <a:xfrm>
            <a:off x="10213848" y="1920240"/>
            <a:ext cx="1371600" cy="210312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41" name="Shape 38"/>
          <p:cNvSpPr/>
          <p:nvPr/>
        </p:nvSpPr>
        <p:spPr>
          <a:xfrm>
            <a:off x="10625328" y="2103120"/>
            <a:ext cx="548640" cy="548640"/>
          </a:xfrm>
          <a:prstGeom prst="ellipse">
            <a:avLst/>
          </a:prstGeom>
          <a:solidFill>
            <a:srgbClr val="0D6B73"/>
          </a:solidFill>
          <a:ln w="12700">
            <a:solidFill>
              <a:srgbClr val="0D6B73"/>
            </a:solidFill>
            <a:prstDash val="solid"/>
          </a:ln>
        </p:spPr>
      </p:sp>
      <p:sp>
        <p:nvSpPr>
          <p:cNvPr id="42" name="Text 39"/>
          <p:cNvSpPr txBox="1"/>
          <p:nvPr/>
        </p:nvSpPr>
        <p:spPr>
          <a:xfrm>
            <a:off x="10625328" y="2103120"/>
            <a:ext cx="548640" cy="54864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3" name="Text 40"/>
          <p:cNvSpPr txBox="1"/>
          <p:nvPr/>
        </p:nvSpPr>
        <p:spPr>
          <a:xfrm>
            <a:off x="10213848" y="2788920"/>
            <a:ext cx="1371600" cy="411480"/>
          </a:xfrm>
          <a:prstGeom prst="rect">
            <a:avLst/>
          </a:prstGeom>
          <a:noFill/>
          <a:ln/>
        </p:spPr>
        <p:txBody>
          <a:bodyPr wrap="square" lIns="50800" tIns="50800" rIns="50800" bIns="50800" rtlCol="0" anchor="t"/>
          <a:lstStyle/>
          <a:p>
            <a:pPr algn="ctr" indent="0" marL="0">
              <a:buNone/>
            </a:pPr>
            <a:r>
              <a:rPr lang="en-US" sz="1700" b="1" dirty="0">
                <a:solidFill>
                  <a:srgbClr val="0F2530"/>
                </a:solidFill>
                <a:latin typeface="Cambria" pitchFamily="34" charset="0"/>
                <a:ea typeface="Cambria" pitchFamily="34" charset="-122"/>
                <a:cs typeface="Cambria" pitchFamily="34" charset="-120"/>
              </a:rPr>
              <a:t>Sleep</a:t>
            </a:r>
            <a:endParaRPr lang="en-US" sz="1700" dirty="0"/>
          </a:p>
        </p:txBody>
      </p:sp>
      <p:sp>
        <p:nvSpPr>
          <p:cNvPr id="44" name="Text 41"/>
          <p:cNvSpPr txBox="1"/>
          <p:nvPr/>
        </p:nvSpPr>
        <p:spPr>
          <a:xfrm>
            <a:off x="10259568" y="3200400"/>
            <a:ext cx="1280160" cy="731520"/>
          </a:xfrm>
          <a:prstGeom prst="rect">
            <a:avLst/>
          </a:prstGeom>
          <a:noFill/>
          <a:ln/>
        </p:spPr>
        <p:txBody>
          <a:bodyPr wrap="square" lIns="50800" tIns="50800" rIns="50800" bIns="50800" rtlCol="0" anchor="t"/>
          <a:lstStyle/>
          <a:p>
            <a:pPr algn="ctr" indent="0" marL="0">
              <a:buNone/>
            </a:pPr>
            <a:r>
              <a:rPr lang="en-US" sz="1200" dirty="0">
                <a:solidFill>
                  <a:srgbClr val="4A5B69"/>
                </a:solidFill>
                <a:latin typeface="Calibri" pitchFamily="34" charset="0"/>
                <a:ea typeface="Calibri" pitchFamily="34" charset="-122"/>
                <a:cs typeface="Calibri" pitchFamily="34" charset="-120"/>
              </a:rPr>
              <a:t>5 s, then repeat</a:t>
            </a:r>
            <a:endParaRPr lang="en-US" sz="1200" dirty="0"/>
          </a:p>
        </p:txBody>
      </p:sp>
      <p:sp>
        <p:nvSpPr>
          <p:cNvPr id="45" name="Shape 42"/>
          <p:cNvSpPr/>
          <p:nvPr/>
        </p:nvSpPr>
        <p:spPr>
          <a:xfrm>
            <a:off x="612648" y="4434840"/>
            <a:ext cx="10972800" cy="1463040"/>
          </a:xfrm>
          <a:prstGeom prst="roundRect">
            <a:avLst>
              <a:gd name="adj" fmla="val 7500"/>
            </a:avLst>
          </a:prstGeom>
          <a:solidFill>
            <a:srgbClr val="E3F1F2"/>
          </a:solidFill>
          <a:ln w="12700">
            <a:solidFill>
              <a:srgbClr val="0D6B73"/>
            </a:solidFill>
            <a:prstDash val="solid"/>
          </a:ln>
        </p:spPr>
      </p:sp>
      <p:sp>
        <p:nvSpPr>
          <p:cNvPr id="46" name="Text 43"/>
          <p:cNvSpPr txBox="1"/>
          <p:nvPr/>
        </p:nvSpPr>
        <p:spPr>
          <a:xfrm>
            <a:off x="868680" y="4572000"/>
            <a:ext cx="5486400" cy="411480"/>
          </a:xfrm>
          <a:prstGeom prst="rect">
            <a:avLst/>
          </a:prstGeom>
          <a:noFill/>
          <a:ln/>
        </p:spPr>
        <p:txBody>
          <a:bodyPr wrap="square" lIns="50800" tIns="50800" rIns="50800" bIns="50800" rtlCol="0" anchor="t"/>
          <a:lstStyle/>
          <a:p>
            <a:pPr algn="l" indent="0" marL="0">
              <a:buNone/>
            </a:pPr>
            <a:r>
              <a:rPr lang="en-US" sz="1800" b="1" dirty="0">
                <a:solidFill>
                  <a:srgbClr val="0D6B73"/>
                </a:solidFill>
                <a:latin typeface="Cambria" pitchFamily="34" charset="0"/>
                <a:ea typeface="Cambria" pitchFamily="34" charset="-122"/>
                <a:cs typeface="Cambria" pitchFamily="34" charset="-120"/>
              </a:rPr>
              <a:t>Built to keep going</a:t>
            </a:r>
            <a:endParaRPr lang="en-US" sz="1800" dirty="0"/>
          </a:p>
        </p:txBody>
      </p:sp>
      <p:sp>
        <p:nvSpPr>
          <p:cNvPr id="47" name="Text 44"/>
          <p:cNvSpPr txBox="1"/>
          <p:nvPr/>
        </p:nvSpPr>
        <p:spPr>
          <a:xfrm>
            <a:off x="868680" y="4983480"/>
            <a:ext cx="10424160" cy="822960"/>
          </a:xfrm>
          <a:prstGeom prst="rect">
            <a:avLst/>
          </a:prstGeom>
          <a:noFill/>
          <a:ln/>
        </p:spPr>
        <p:txBody>
          <a:bodyPr wrap="square" lIns="50800" tIns="50800" rIns="50800" bIns="50800" rtlCol="0" anchor="t"/>
          <a:lstStyle/>
          <a:p>
            <a:pPr algn="l" indent="0" marL="0">
              <a:buNone/>
            </a:pPr>
            <a:r>
              <a:rPr lang="en-US" sz="1500" dirty="0">
                <a:solidFill>
                  <a:srgbClr val="0F2530"/>
                </a:solidFill>
                <a:latin typeface="Calibri" pitchFamily="34" charset="0"/>
                <a:ea typeface="Calibri" pitchFamily="34" charset="-122"/>
                <a:cs typeface="Calibri" pitchFamily="34" charset="-120"/>
              </a:rPr>
              <a:t>Every online step has a time limit: connection test 2 s, weather 3 s, language model 4 s. If anything fails, the program carries on with what it has. Worst case is about 14 s per round; offline it is just the 5 s nap.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The detectors are short, readable rules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554480"/>
                <a:gridCol w="2926080"/>
                <a:gridCol w="3566160"/>
                <a:gridCol w="30175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Detector</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Watches</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Says HIGH when</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 message</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r>
              <a:tr h="777240">
                <a:tc>
                  <a:txBody>
                    <a:bodyPr/>
                    <a:lstStyle/>
                    <a:p>
                      <a:pPr indent="0" marL="0">
                        <a:buNone/>
                      </a:pPr>
                      <a:r>
                        <a:rPr lang="en-US" sz="1400" b="1" dirty="0">
                          <a:solidFill>
                            <a:srgbClr val="0F2530"/>
                          </a:solidFill>
                          <a:latin typeface="Calibri" pitchFamily="34" charset="0"/>
                          <a:ea typeface="Calibri" pitchFamily="34" charset="-122"/>
                          <a:cs typeface="Calibri" pitchFamily="34" charset="-120"/>
                        </a:rPr>
                        <a:t>Flood</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water distance, rain, forecast rain</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water &lt; 80 cm, rain &gt; 30 mm/hr, or forecast &gt; 10 mm</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“heavy rain (35.0mm/hr)”</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2530"/>
                          </a:solidFill>
                          <a:latin typeface="Calibri" pitchFamily="34" charset="0"/>
                          <a:ea typeface="Calibri" pitchFamily="34" charset="-122"/>
                          <a:cs typeface="Calibri" pitchFamily="34" charset="-120"/>
                        </a:rPr>
                        <a:t>Earthquake</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vibration history (last 200 readings)</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STA/LTA ratio ≥ 3.0</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“STA/LTA ratio 3.13 exceeds trigger”</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2530"/>
                          </a:solidFill>
                          <a:latin typeface="Calibri" pitchFamily="34" charset="0"/>
                          <a:ea typeface="Calibri" pitchFamily="34" charset="-122"/>
                          <a:cs typeface="Calibri" pitchFamily="34" charset="-120"/>
                        </a:rPr>
                        <a:t>Storm</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wind, rain, weather code</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code 95/96/99, wind ≥ 70, or rain ≥ 50</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“wind speed 120.0 km/h exceeds trigger”</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2530"/>
                          </a:solidFill>
                          <a:latin typeface="Calibri" pitchFamily="34" charset="0"/>
                          <a:ea typeface="Calibri" pitchFamily="34" charset="-122"/>
                          <a:cs typeface="Calibri" pitchFamily="34" charset="-120"/>
                        </a:rPr>
                        <a:t>Tsunami</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coastal sea-level change</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|change| ≥ 50 cm</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400" dirty="0">
                          <a:solidFill>
                            <a:srgbClr val="0F2530"/>
                          </a:solidFill>
                          <a:latin typeface="Calibri" pitchFamily="34" charset="0"/>
                          <a:ea typeface="Calibri" pitchFamily="34" charset="-122"/>
                          <a:cs typeface="Calibri" pitchFamily="34" charset="-120"/>
                        </a:rPr>
                        <a:t>“rapid coastal sea-level change 300 cm”</a:t>
                      </a:r>
                      <a:endParaRPr lang="en-US" sz="14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394960"/>
            <a:ext cx="11064240" cy="868680"/>
          </a:xfrm>
          <a:prstGeom prst="roundRect">
            <a:avLst>
              <a:gd name="adj" fmla="val 12632"/>
            </a:avLst>
          </a:prstGeom>
          <a:solidFill>
            <a:srgbClr val="E3F1F2"/>
          </a:solidFill>
          <a:ln w="12700">
            <a:solidFill>
              <a:srgbClr val="0D6B73"/>
            </a:solidFill>
            <a:prstDash val="solid"/>
          </a:ln>
        </p:spPr>
      </p:sp>
      <p:sp>
        <p:nvSpPr>
          <p:cNvPr id="6" name="Text 2"/>
          <p:cNvSpPr txBox="1"/>
          <p:nvPr/>
        </p:nvSpPr>
        <p:spPr>
          <a:xfrm>
            <a:off x="777240" y="5394960"/>
            <a:ext cx="10607040" cy="868680"/>
          </a:xfrm>
          <a:prstGeom prst="rect">
            <a:avLst/>
          </a:prstGeom>
          <a:noFill/>
          <a:ln/>
        </p:spPr>
        <p:txBody>
          <a:bodyPr wrap="square" lIns="50800" tIns="50800" rIns="50800" bIns="50800" rtlCol="0" anchor="ctr"/>
          <a:lstStyle/>
          <a:p>
            <a:pPr algn="l" indent="0" marL="0">
              <a:buNone/>
            </a:pPr>
            <a:r>
              <a:rPr lang="en-US" sz="1600" dirty="0">
                <a:solidFill>
                  <a:srgbClr val="0F2530"/>
                </a:solidFill>
                <a:latin typeface="Calibri" pitchFamily="34" charset="0"/>
                <a:ea typeface="Calibri" pitchFamily="34" charset="-122"/>
                <a:cs typeface="Calibri" pitchFamily="34" charset="-120"/>
              </a:rPr>
              <a:t>The water sensor measures the distance down to the water, so a smaller number means higher water.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Earthquake: a spike against calm</a:t>
            </a:r>
            <a:endParaRPr lang="en-US" sz="3400" dirty="0"/>
          </a:p>
        </p:txBody>
      </p:sp>
      <p:graphicFrame>
        <p:nvGraphicFramePr>
          <p:cNvPr id="4" name="Chart 0" descr=""/>
          <p:cNvGraphicFramePr/>
          <p:nvPr/>
        </p:nvGraphicFramePr>
        <p:xfrm>
          <a:off x="548640" y="141732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589520" y="1417320"/>
            <a:ext cx="4069080" cy="1965960"/>
          </a:xfrm>
          <a:prstGeom prst="roundRect">
            <a:avLst>
              <a:gd name="adj" fmla="val 5581"/>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6" name="Text 2"/>
          <p:cNvSpPr txBox="1"/>
          <p:nvPr/>
        </p:nvSpPr>
        <p:spPr>
          <a:xfrm>
            <a:off x="7772400" y="1508760"/>
            <a:ext cx="3657600" cy="457200"/>
          </a:xfrm>
          <a:prstGeom prst="rect">
            <a:avLst/>
          </a:prstGeom>
          <a:noFill/>
          <a:ln/>
        </p:spPr>
        <p:txBody>
          <a:bodyPr wrap="square" lIns="50800" tIns="50800" rIns="50800" bIns="50800" rtlCol="0" anchor="t"/>
          <a:lstStyle/>
          <a:p>
            <a:pPr algn="l" indent="0" marL="0">
              <a:buNone/>
            </a:pPr>
            <a:r>
              <a:rPr lang="en-US" sz="2200" b="1" dirty="0">
                <a:solidFill>
                  <a:srgbClr val="0D6B73"/>
                </a:solidFill>
                <a:latin typeface="Cambria" pitchFamily="34" charset="0"/>
                <a:ea typeface="Cambria" pitchFamily="34" charset="-122"/>
                <a:cs typeface="Cambria" pitchFamily="34" charset="-120"/>
              </a:rPr>
              <a:t>STA/LTA</a:t>
            </a:r>
            <a:endParaRPr lang="en-US" sz="2200" dirty="0"/>
          </a:p>
        </p:txBody>
      </p:sp>
      <p:sp>
        <p:nvSpPr>
          <p:cNvPr id="7" name="Text 3"/>
          <p:cNvSpPr txBox="1"/>
          <p:nvPr/>
        </p:nvSpPr>
        <p:spPr>
          <a:xfrm>
            <a:off x="7772400" y="2011680"/>
            <a:ext cx="3703320" cy="128016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average of the last 5 readings ÷ average of all stored readings. Above 3.0 means HIGH.</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89520" y="3611880"/>
          <a:ext cx="4069080" cy="914400"/>
        </p:xfrm>
        <a:graphic>
          <a:graphicData uri="http://schemas.openxmlformats.org/drawingml/2006/table">
            <a:tbl>
              <a:tblPr/>
              <a:tblGrid>
                <a:gridCol w="1554480"/>
                <a:gridCol w="1097280"/>
                <a:gridCol w="14173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New reading</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0F2530"/>
                    </a:solidFill>
                  </a:tcPr>
                </a:tc>
              </a:tr>
              <a:tr h="457200">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0.02 g</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1.14</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0.30 g</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2.78</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dirty="0">
                          <a:solidFill>
                            <a:srgbClr val="0F2530"/>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F2530"/>
                          </a:solidFill>
                          <a:latin typeface="Calibri" pitchFamily="34" charset="0"/>
                          <a:ea typeface="Calibri" pitchFamily="34" charset="-122"/>
                          <a:cs typeface="Calibri" pitchFamily="34" charset="-120"/>
                        </a:rPr>
                        <a:t>0.50 g</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b="1" dirty="0">
                          <a:solidFill>
                            <a:srgbClr val="0F2530"/>
                          </a:solidFill>
                          <a:latin typeface="Calibri" pitchFamily="34" charset="0"/>
                          <a:ea typeface="Calibri" pitchFamily="34" charset="-122"/>
                          <a:cs typeface="Calibri" pitchFamily="34" charset="-120"/>
                        </a:rPr>
                        <a:t>3.13</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c>
                  <a:txBody>
                    <a:bodyPr/>
                    <a:lstStyle/>
                    <a:p>
                      <a:pPr indent="0" marL="0">
                        <a:buNone/>
                      </a:pPr>
                      <a:r>
                        <a:rPr lang="en-US" sz="1300" b="1" dirty="0">
                          <a:solidFill>
                            <a:srgbClr val="C8401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91440" marB="91440" anchor="ctr">
                    <a:lnL w="12700" cap="flat" cmpd="sng" algn="ctr">
                      <a:solidFill>
                        <a:srgbClr val="CFD8E0"/>
                      </a:solidFill>
                      <a:prstDash val="solid"/>
                      <a:round/>
                      <a:headEnd type="none" w="med" len="med"/>
                      <a:tailEnd type="none" w="med" len="med"/>
                    </a:lnL>
                    <a:lnR w="12700" cap="flat" cmpd="sng" algn="ctr">
                      <a:solidFill>
                        <a:srgbClr val="CFD8E0"/>
                      </a:solidFill>
                      <a:prstDash val="solid"/>
                      <a:round/>
                      <a:headEnd type="none" w="med" len="med"/>
                      <a:tailEnd type="none" w="med" len="med"/>
                    </a:lnR>
                    <a:lnT w="12700" cap="flat" cmpd="sng" algn="ctr">
                      <a:solidFill>
                        <a:srgbClr val="CFD8E0"/>
                      </a:solidFill>
                      <a:prstDash val="solid"/>
                      <a:round/>
                      <a:headEnd type="none" w="med" len="med"/>
                      <a:tailEnd type="none" w="med" len="med"/>
                    </a:lnT>
                    <a:lnB w="12700" cap="flat" cmpd="sng" algn="ctr">
                      <a:solidFill>
                        <a:srgbClr val="CFD8E0"/>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7589520" y="5532120"/>
            <a:ext cx="4069080" cy="365760"/>
          </a:xfrm>
          <a:prstGeom prst="rect">
            <a:avLst/>
          </a:prstGeom>
          <a:noFill/>
          <a:ln/>
        </p:spPr>
        <p:txBody>
          <a:bodyPr wrap="square" lIns="50800" tIns="50800" rIns="50800" bIns="50800" rtlCol="0" anchor="t"/>
          <a:lstStyle/>
          <a:p>
            <a:pPr algn="l" indent="0" marL="0">
              <a:buNone/>
            </a:pPr>
            <a:r>
              <a:rPr lang="en-US" sz="1200" i="1" dirty="0">
                <a:solidFill>
                  <a:srgbClr val="4A5B69"/>
                </a:solidFill>
                <a:latin typeface="Calibri" pitchFamily="34" charset="0"/>
                <a:ea typeface="Calibri" pitchFamily="34" charset="-122"/>
                <a:cs typeface="Calibri" pitchFamily="34" charset="-120"/>
              </a:rPr>
              <a:t>Same maths as the manual test.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One clear headline, decided by rules</a:t>
            </a:r>
            <a:endParaRPr lang="en-US" sz="3400" dirty="0"/>
          </a:p>
        </p:txBody>
      </p:sp>
      <p:sp>
        <p:nvSpPr>
          <p:cNvPr id="4" name="Shape 1"/>
          <p:cNvSpPr/>
          <p:nvPr/>
        </p:nvSpPr>
        <p:spPr>
          <a:xfrm>
            <a:off x="548640" y="1554480"/>
            <a:ext cx="2377440" cy="1371600"/>
          </a:xfrm>
          <a:prstGeom prst="roundRect">
            <a:avLst>
              <a:gd name="adj" fmla="val 8000"/>
            </a:avLst>
          </a:prstGeom>
          <a:solidFill>
            <a:srgbClr val="C8401A"/>
          </a:solidFill>
          <a:ln w="19050">
            <a:solidFill>
              <a:srgbClr val="C8401A"/>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548640" y="1691640"/>
            <a:ext cx="2377440" cy="59436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  Tsunami</a:t>
            </a:r>
            <a:endParaRPr lang="en-US" sz="2400" dirty="0"/>
          </a:p>
        </p:txBody>
      </p:sp>
      <p:sp>
        <p:nvSpPr>
          <p:cNvPr id="6" name="Text 3"/>
          <p:cNvSpPr txBox="1"/>
          <p:nvPr/>
        </p:nvSpPr>
        <p:spPr>
          <a:xfrm>
            <a:off x="548640" y="2331720"/>
            <a:ext cx="2377440" cy="365760"/>
          </a:xfrm>
          <a:prstGeom prst="rect">
            <a:avLst/>
          </a:prstGeom>
          <a:noFill/>
          <a:ln/>
        </p:spPr>
        <p:txBody>
          <a:bodyPr wrap="square" lIns="50800" tIns="50800" rIns="50800" bIns="50800" rtlCol="0" anchor="t"/>
          <a:lstStyle/>
          <a:p>
            <a:pPr algn="ctr" indent="0" marL="0">
              <a:buNone/>
            </a:pPr>
            <a:r>
              <a:rPr lang="en-US" sz="1400" dirty="0">
                <a:solidFill>
                  <a:srgbClr val="FFE3D9"/>
                </a:solidFill>
                <a:latin typeface="Calibri" pitchFamily="34" charset="0"/>
                <a:ea typeface="Calibri" pitchFamily="34" charset="-122"/>
                <a:cs typeface="Calibri" pitchFamily="34" charset="-120"/>
              </a:rPr>
              <a:t>least time</a:t>
            </a:r>
            <a:endParaRPr lang="en-US" sz="1400" dirty="0"/>
          </a:p>
        </p:txBody>
      </p:sp>
      <p:sp>
        <p:nvSpPr>
          <p:cNvPr id="7" name="Shape 4"/>
          <p:cNvSpPr/>
          <p:nvPr/>
        </p:nvSpPr>
        <p:spPr>
          <a:xfrm>
            <a:off x="2971800" y="2240280"/>
            <a:ext cx="365760" cy="0"/>
          </a:xfrm>
          <a:prstGeom prst="line">
            <a:avLst/>
          </a:prstGeom>
          <a:noFill/>
          <a:ln w="22225">
            <a:solidFill>
              <a:srgbClr val="4A5B69"/>
            </a:solidFill>
            <a:prstDash val="solid"/>
            <a:tailEnd type="triangle"/>
          </a:ln>
        </p:spPr>
      </p:sp>
      <p:sp>
        <p:nvSpPr>
          <p:cNvPr id="8" name="Shape 5"/>
          <p:cNvSpPr/>
          <p:nvPr/>
        </p:nvSpPr>
        <p:spPr>
          <a:xfrm>
            <a:off x="3383280" y="1554480"/>
            <a:ext cx="2377440" cy="137160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3383280" y="1691640"/>
            <a:ext cx="2377440" cy="594360"/>
          </a:xfrm>
          <a:prstGeom prst="rect">
            <a:avLst/>
          </a:prstGeom>
          <a:noFill/>
          <a:ln/>
        </p:spPr>
        <p:txBody>
          <a:bodyPr wrap="square" lIns="50800" tIns="50800" rIns="50800" bIns="50800" rtlCol="0" anchor="ctr"/>
          <a:lstStyle/>
          <a:p>
            <a:pPr algn="ctr" indent="0" marL="0">
              <a:buNone/>
            </a:pPr>
            <a:r>
              <a:rPr lang="en-US" sz="2400" b="1" dirty="0">
                <a:solidFill>
                  <a:srgbClr val="0F2530"/>
                </a:solidFill>
                <a:latin typeface="Cambria" pitchFamily="34" charset="0"/>
                <a:ea typeface="Cambria" pitchFamily="34" charset="-122"/>
                <a:cs typeface="Cambria" pitchFamily="34" charset="-120"/>
              </a:rPr>
              <a:t>2  Earthquake</a:t>
            </a:r>
            <a:endParaRPr lang="en-US" sz="2400" dirty="0"/>
          </a:p>
        </p:txBody>
      </p:sp>
      <p:sp>
        <p:nvSpPr>
          <p:cNvPr id="10" name="Shape 7"/>
          <p:cNvSpPr/>
          <p:nvPr/>
        </p:nvSpPr>
        <p:spPr>
          <a:xfrm>
            <a:off x="5806440" y="2240280"/>
            <a:ext cx="365760" cy="0"/>
          </a:xfrm>
          <a:prstGeom prst="line">
            <a:avLst/>
          </a:prstGeom>
          <a:noFill/>
          <a:ln w="22225">
            <a:solidFill>
              <a:srgbClr val="4A5B69"/>
            </a:solidFill>
            <a:prstDash val="solid"/>
            <a:tailEnd type="triangle"/>
          </a:ln>
        </p:spPr>
      </p:sp>
      <p:sp>
        <p:nvSpPr>
          <p:cNvPr id="11" name="Shape 8"/>
          <p:cNvSpPr/>
          <p:nvPr/>
        </p:nvSpPr>
        <p:spPr>
          <a:xfrm>
            <a:off x="6217920" y="1554480"/>
            <a:ext cx="2377440" cy="137160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6217920" y="1691640"/>
            <a:ext cx="2377440" cy="594360"/>
          </a:xfrm>
          <a:prstGeom prst="rect">
            <a:avLst/>
          </a:prstGeom>
          <a:noFill/>
          <a:ln/>
        </p:spPr>
        <p:txBody>
          <a:bodyPr wrap="square" lIns="50800" tIns="50800" rIns="50800" bIns="50800" rtlCol="0" anchor="ctr"/>
          <a:lstStyle/>
          <a:p>
            <a:pPr algn="ctr" indent="0" marL="0">
              <a:buNone/>
            </a:pPr>
            <a:r>
              <a:rPr lang="en-US" sz="2400" b="1" dirty="0">
                <a:solidFill>
                  <a:srgbClr val="0F2530"/>
                </a:solidFill>
                <a:latin typeface="Cambria" pitchFamily="34" charset="0"/>
                <a:ea typeface="Cambria" pitchFamily="34" charset="-122"/>
                <a:cs typeface="Cambria" pitchFamily="34" charset="-120"/>
              </a:rPr>
              <a:t>3  Storm</a:t>
            </a:r>
            <a:endParaRPr lang="en-US" sz="2400" dirty="0"/>
          </a:p>
        </p:txBody>
      </p:sp>
      <p:sp>
        <p:nvSpPr>
          <p:cNvPr id="13" name="Shape 10"/>
          <p:cNvSpPr/>
          <p:nvPr/>
        </p:nvSpPr>
        <p:spPr>
          <a:xfrm>
            <a:off x="8641080" y="2240280"/>
            <a:ext cx="365760" cy="0"/>
          </a:xfrm>
          <a:prstGeom prst="line">
            <a:avLst/>
          </a:prstGeom>
          <a:noFill/>
          <a:ln w="22225">
            <a:solidFill>
              <a:srgbClr val="4A5B69"/>
            </a:solidFill>
            <a:prstDash val="solid"/>
            <a:tailEnd type="triangle"/>
          </a:ln>
        </p:spPr>
      </p:sp>
      <p:sp>
        <p:nvSpPr>
          <p:cNvPr id="14" name="Shape 11"/>
          <p:cNvSpPr/>
          <p:nvPr/>
        </p:nvSpPr>
        <p:spPr>
          <a:xfrm>
            <a:off x="9052560" y="1554480"/>
            <a:ext cx="2377440" cy="1371600"/>
          </a:xfrm>
          <a:prstGeom prst="roundRect">
            <a:avLst>
              <a:gd name="adj" fmla="val 8000"/>
            </a:avLst>
          </a:prstGeom>
          <a:solidFill>
            <a:srgbClr val="FFFFFF"/>
          </a:solidFill>
          <a:ln w="19050">
            <a:solidFill>
              <a:srgbClr val="0D6B73"/>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9052560" y="1691640"/>
            <a:ext cx="2377440" cy="594360"/>
          </a:xfrm>
          <a:prstGeom prst="rect">
            <a:avLst/>
          </a:prstGeom>
          <a:noFill/>
          <a:ln/>
        </p:spPr>
        <p:txBody>
          <a:bodyPr wrap="square" lIns="50800" tIns="50800" rIns="50800" bIns="50800" rtlCol="0" anchor="ctr"/>
          <a:lstStyle/>
          <a:p>
            <a:pPr algn="ctr" indent="0" marL="0">
              <a:buNone/>
            </a:pPr>
            <a:r>
              <a:rPr lang="en-US" sz="2400" b="1" dirty="0">
                <a:solidFill>
                  <a:srgbClr val="0F2530"/>
                </a:solidFill>
                <a:latin typeface="Cambria" pitchFamily="34" charset="0"/>
                <a:ea typeface="Cambria" pitchFamily="34" charset="-122"/>
                <a:cs typeface="Cambria" pitchFamily="34" charset="-120"/>
              </a:rPr>
              <a:t>4  Flood</a:t>
            </a:r>
            <a:endParaRPr lang="en-US" sz="2400" dirty="0"/>
          </a:p>
        </p:txBody>
      </p:sp>
      <p:sp>
        <p:nvSpPr>
          <p:cNvPr id="16" name="Text 13"/>
          <p:cNvSpPr txBox="1"/>
          <p:nvPr/>
        </p:nvSpPr>
        <p:spPr>
          <a:xfrm>
            <a:off x="9052560" y="2331720"/>
            <a:ext cx="237744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most time</a:t>
            </a:r>
            <a:endParaRPr lang="en-US" sz="1400" dirty="0"/>
          </a:p>
        </p:txBody>
      </p:sp>
      <p:sp>
        <p:nvSpPr>
          <p:cNvPr id="17" name="Shape 14"/>
          <p:cNvSpPr/>
          <p:nvPr/>
        </p:nvSpPr>
        <p:spPr>
          <a:xfrm>
            <a:off x="548640" y="3429000"/>
            <a:ext cx="5394960" cy="2651760"/>
          </a:xfrm>
          <a:prstGeom prst="roundRect">
            <a:avLst>
              <a:gd name="adj" fmla="val 4138"/>
            </a:avLst>
          </a:prstGeom>
          <a:solidFill>
            <a:srgbClr val="E3F1F2"/>
          </a:solidFill>
          <a:ln w="19050">
            <a:solidFill>
              <a:srgbClr val="0D6B73"/>
            </a:solidFill>
            <a:prstDash val="solid"/>
          </a:ln>
        </p:spPr>
      </p:sp>
      <p:sp>
        <p:nvSpPr>
          <p:cNvPr id="18" name="Text 15"/>
          <p:cNvSpPr txBox="1"/>
          <p:nvPr/>
        </p:nvSpPr>
        <p:spPr>
          <a:xfrm>
            <a:off x="777240" y="3566160"/>
            <a:ext cx="4937760" cy="566928"/>
          </a:xfrm>
          <a:prstGeom prst="rect">
            <a:avLst/>
          </a:prstGeom>
          <a:noFill/>
          <a:ln/>
        </p:spPr>
        <p:txBody>
          <a:bodyPr wrap="square" lIns="50800" tIns="50800" rIns="50800" bIns="50800" rtlCol="0" anchor="t"/>
          <a:lstStyle/>
          <a:p>
            <a:pPr algn="l" indent="0" marL="0">
              <a:buNone/>
            </a:pPr>
            <a:r>
              <a:rPr lang="en-US" sz="2400" b="1" dirty="0">
                <a:solidFill>
                  <a:srgbClr val="0D6B73"/>
                </a:solidFill>
                <a:latin typeface="Cambria" pitchFamily="34" charset="0"/>
                <a:ea typeface="Cambria" pitchFamily="34" charset="-122"/>
                <a:cs typeface="Cambria" pitchFamily="34" charset="-120"/>
              </a:rPr>
              <a:t>Rules decide</a:t>
            </a:r>
            <a:endParaRPr lang="en-US" sz="2400" dirty="0"/>
          </a:p>
        </p:txBody>
      </p:sp>
      <p:sp>
        <p:nvSpPr>
          <p:cNvPr id="19" name="Text 16"/>
          <p:cNvSpPr txBox="1"/>
          <p:nvPr/>
        </p:nvSpPr>
        <p:spPr>
          <a:xfrm>
            <a:off x="777240" y="4160520"/>
            <a:ext cx="4937760" cy="1737360"/>
          </a:xfrm>
          <a:prstGeom prst="rect">
            <a:avLst/>
          </a:prstGeom>
          <a:noFill/>
          <a:ln/>
        </p:spPr>
        <p:txBody>
          <a:bodyPr wrap="square" lIns="50800" tIns="50800" rIns="50800" bIns="50800" rtlCol="0" anchor="t"/>
          <a:lstStyle/>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Instant and works offline</a:t>
            </a:r>
            <a:endParaRPr lang="en-US" sz="1700" dirty="0"/>
          </a:p>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Readable: every alert states its reason</a:t>
            </a:r>
            <a:endParaRPr lang="en-US" sz="1700" dirty="0"/>
          </a:p>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No training data needed</a:t>
            </a:r>
            <a:endParaRPr lang="en-US" sz="1700" dirty="0"/>
          </a:p>
        </p:txBody>
      </p:sp>
      <p:sp>
        <p:nvSpPr>
          <p:cNvPr id="20" name="Shape 17"/>
          <p:cNvSpPr/>
          <p:nvPr/>
        </p:nvSpPr>
        <p:spPr>
          <a:xfrm>
            <a:off x="6217920" y="3429000"/>
            <a:ext cx="5394960" cy="2651760"/>
          </a:xfrm>
          <a:prstGeom prst="roundRect">
            <a:avLst>
              <a:gd name="adj" fmla="val 4138"/>
            </a:avLst>
          </a:prstGeom>
          <a:solidFill>
            <a:srgbClr val="FBE9E2"/>
          </a:solidFill>
          <a:ln w="19050">
            <a:solidFill>
              <a:srgbClr val="C8401A"/>
            </a:solidFill>
            <a:prstDash val="solid"/>
          </a:ln>
        </p:spPr>
      </p:sp>
      <p:sp>
        <p:nvSpPr>
          <p:cNvPr id="21" name="Text 18"/>
          <p:cNvSpPr txBox="1"/>
          <p:nvPr/>
        </p:nvSpPr>
        <p:spPr>
          <a:xfrm>
            <a:off x="6446520" y="3566160"/>
            <a:ext cx="4937760" cy="566928"/>
          </a:xfrm>
          <a:prstGeom prst="rect">
            <a:avLst/>
          </a:prstGeom>
          <a:noFill/>
          <a:ln/>
        </p:spPr>
        <p:txBody>
          <a:bodyPr wrap="square" lIns="50800" tIns="50800" rIns="50800" bIns="50800" rtlCol="0" anchor="t"/>
          <a:lstStyle/>
          <a:p>
            <a:pPr algn="l" indent="0" marL="0">
              <a:buNone/>
            </a:pPr>
            <a:r>
              <a:rPr lang="en-US" sz="2400" b="1" dirty="0">
                <a:solidFill>
                  <a:srgbClr val="C8401A"/>
                </a:solidFill>
                <a:latin typeface="Cambria" pitchFamily="34" charset="0"/>
                <a:ea typeface="Cambria" pitchFamily="34" charset="-122"/>
                <a:cs typeface="Cambria" pitchFamily="34" charset="-120"/>
              </a:rPr>
              <a:t>The AI only rewords</a:t>
            </a:r>
            <a:endParaRPr lang="en-US" sz="2400" dirty="0"/>
          </a:p>
        </p:txBody>
      </p:sp>
      <p:sp>
        <p:nvSpPr>
          <p:cNvPr id="22" name="Text 19"/>
          <p:cNvSpPr txBox="1"/>
          <p:nvPr/>
        </p:nvSpPr>
        <p:spPr>
          <a:xfrm>
            <a:off x="6446520" y="4160520"/>
            <a:ext cx="4937760" cy="1737360"/>
          </a:xfrm>
          <a:prstGeom prst="rect">
            <a:avLst/>
          </a:prstGeom>
          <a:noFill/>
          <a:ln/>
        </p:spPr>
        <p:txBody>
          <a:bodyPr wrap="square" lIns="50800" tIns="50800" rIns="50800" bIns="50800" rtlCol="0" anchor="t"/>
          <a:lstStyle/>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Optional, online only, 4 s timeout</a:t>
            </a:r>
            <a:endParaRPr lang="en-US" sz="1700" dirty="0"/>
          </a:p>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Turns the reason into one friendly sentence</a:t>
            </a:r>
            <a:endParaRPr lang="en-US" sz="1700" dirty="0"/>
          </a:p>
          <a:p>
            <a:pPr algn="l" marL="342900" indent="-342900">
              <a:spcAft>
                <a:spcPts val="600"/>
              </a:spcAft>
              <a:buSzPct val="100000"/>
              <a:buChar char="•"/>
            </a:pPr>
            <a:r>
              <a:rPr lang="en-US" sz="1700" dirty="0">
                <a:solidFill>
                  <a:srgbClr val="0F2530"/>
                </a:solidFill>
                <a:latin typeface="Calibri" pitchFamily="34" charset="0"/>
                <a:ea typeface="Calibri" pitchFamily="34" charset="-122"/>
                <a:cs typeface="Calibri" pitchFamily="34" charset="-120"/>
              </a:rPr>
              <a:t>Can never change the risk level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Offline first, online as a bonus</a:t>
            </a:r>
            <a:endParaRPr lang="en-US" sz="3400" dirty="0"/>
          </a:p>
        </p:txBody>
      </p:sp>
      <p:sp>
        <p:nvSpPr>
          <p:cNvPr id="4" name="Text 1"/>
          <p:cNvSpPr txBox="1"/>
          <p:nvPr/>
        </p:nvSpPr>
        <p:spPr>
          <a:xfrm>
            <a:off x="548640" y="1371600"/>
            <a:ext cx="7315200" cy="365760"/>
          </a:xfrm>
          <a:prstGeom prst="rect">
            <a:avLst/>
          </a:prstGeom>
          <a:noFill/>
          <a:ln/>
        </p:spPr>
        <p:txBody>
          <a:bodyPr wrap="square" lIns="50800" tIns="50800" rIns="50800" bIns="50800" rtlCol="0" anchor="t"/>
          <a:lstStyle/>
          <a:p>
            <a:pPr algn="l" indent="0" marL="0">
              <a:buNone/>
            </a:pPr>
            <a:r>
              <a:rPr lang="en-US" sz="1500" b="1" spc="200" kern="0" dirty="0">
                <a:solidFill>
                  <a:srgbClr val="0D6B73"/>
                </a:solidFill>
                <a:latin typeface="Calibri" pitchFamily="34" charset="0"/>
                <a:ea typeface="Calibri" pitchFamily="34" charset="-122"/>
                <a:cs typeface="Calibri" pitchFamily="34" charset="-120"/>
              </a:rPr>
              <a:t>ALWAYS WORKS · no internet needed</a:t>
            </a:r>
            <a:endParaRPr lang="en-US" sz="1500" dirty="0"/>
          </a:p>
        </p:txBody>
      </p:sp>
      <p:sp>
        <p:nvSpPr>
          <p:cNvPr id="5" name="Shape 2"/>
          <p:cNvSpPr/>
          <p:nvPr/>
        </p:nvSpPr>
        <p:spPr>
          <a:xfrm>
            <a:off x="548640" y="1783080"/>
            <a:ext cx="3383280" cy="1234440"/>
          </a:xfrm>
          <a:prstGeom prst="roundRect">
            <a:avLst>
              <a:gd name="adj" fmla="val 8889"/>
            </a:avLst>
          </a:prstGeom>
          <a:solidFill>
            <a:srgbClr val="E3F1F2"/>
          </a:solidFill>
          <a:ln w="19050">
            <a:solidFill>
              <a:srgbClr val="0D6B73"/>
            </a:solidFill>
            <a:prstDash val="solid"/>
          </a:ln>
        </p:spPr>
      </p:sp>
      <p:sp>
        <p:nvSpPr>
          <p:cNvPr id="6" name="Text 3"/>
          <p:cNvSpPr txBox="1"/>
          <p:nvPr/>
        </p:nvSpPr>
        <p:spPr>
          <a:xfrm>
            <a:off x="731520" y="192024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Read sensors</a:t>
            </a:r>
            <a:endParaRPr lang="en-US" sz="2000" dirty="0"/>
          </a:p>
        </p:txBody>
      </p:sp>
      <p:sp>
        <p:nvSpPr>
          <p:cNvPr id="7" name="Text 4"/>
          <p:cNvSpPr txBox="1"/>
          <p:nvPr/>
        </p:nvSpPr>
        <p:spPr>
          <a:xfrm>
            <a:off x="731520" y="242316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every few seconds</a:t>
            </a:r>
            <a:endParaRPr lang="en-US" sz="1500" dirty="0"/>
          </a:p>
        </p:txBody>
      </p:sp>
      <p:sp>
        <p:nvSpPr>
          <p:cNvPr id="8" name="Shape 5"/>
          <p:cNvSpPr/>
          <p:nvPr/>
        </p:nvSpPr>
        <p:spPr>
          <a:xfrm>
            <a:off x="3950208" y="2395728"/>
            <a:ext cx="374904" cy="0"/>
          </a:xfrm>
          <a:prstGeom prst="line">
            <a:avLst/>
          </a:prstGeom>
          <a:noFill/>
          <a:ln w="22225">
            <a:solidFill>
              <a:srgbClr val="4A5B69"/>
            </a:solidFill>
            <a:prstDash val="solid"/>
            <a:tailEnd type="triangle"/>
          </a:ln>
        </p:spPr>
      </p:sp>
      <p:sp>
        <p:nvSpPr>
          <p:cNvPr id="9" name="Shape 6"/>
          <p:cNvSpPr/>
          <p:nvPr/>
        </p:nvSpPr>
        <p:spPr>
          <a:xfrm>
            <a:off x="4343400" y="1783080"/>
            <a:ext cx="3383280" cy="1234440"/>
          </a:xfrm>
          <a:prstGeom prst="roundRect">
            <a:avLst>
              <a:gd name="adj" fmla="val 8889"/>
            </a:avLst>
          </a:prstGeom>
          <a:solidFill>
            <a:srgbClr val="E3F1F2"/>
          </a:solidFill>
          <a:ln w="19050">
            <a:solidFill>
              <a:srgbClr val="0D6B73"/>
            </a:solidFill>
            <a:prstDash val="solid"/>
          </a:ln>
        </p:spPr>
      </p:sp>
      <p:sp>
        <p:nvSpPr>
          <p:cNvPr id="10" name="Text 7"/>
          <p:cNvSpPr txBox="1"/>
          <p:nvPr/>
        </p:nvSpPr>
        <p:spPr>
          <a:xfrm>
            <a:off x="4526280" y="192024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Check the rules</a:t>
            </a:r>
            <a:endParaRPr lang="en-US" sz="2000" dirty="0"/>
          </a:p>
        </p:txBody>
      </p:sp>
      <p:sp>
        <p:nvSpPr>
          <p:cNvPr id="11" name="Text 8"/>
          <p:cNvSpPr txBox="1"/>
          <p:nvPr/>
        </p:nvSpPr>
        <p:spPr>
          <a:xfrm>
            <a:off x="4526280" y="242316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4 local detectors</a:t>
            </a:r>
            <a:endParaRPr lang="en-US" sz="1500" dirty="0"/>
          </a:p>
        </p:txBody>
      </p:sp>
      <p:sp>
        <p:nvSpPr>
          <p:cNvPr id="12" name="Shape 9"/>
          <p:cNvSpPr/>
          <p:nvPr/>
        </p:nvSpPr>
        <p:spPr>
          <a:xfrm>
            <a:off x="7744968" y="2395728"/>
            <a:ext cx="374904" cy="0"/>
          </a:xfrm>
          <a:prstGeom prst="line">
            <a:avLst/>
          </a:prstGeom>
          <a:noFill/>
          <a:ln w="22225">
            <a:solidFill>
              <a:srgbClr val="4A5B69"/>
            </a:solidFill>
            <a:prstDash val="solid"/>
            <a:tailEnd type="triangle"/>
          </a:ln>
        </p:spPr>
      </p:sp>
      <p:sp>
        <p:nvSpPr>
          <p:cNvPr id="13" name="Shape 10"/>
          <p:cNvSpPr/>
          <p:nvPr/>
        </p:nvSpPr>
        <p:spPr>
          <a:xfrm>
            <a:off x="8138160" y="1783080"/>
            <a:ext cx="3383280" cy="1234440"/>
          </a:xfrm>
          <a:prstGeom prst="roundRect">
            <a:avLst>
              <a:gd name="adj" fmla="val 8889"/>
            </a:avLst>
          </a:prstGeom>
          <a:solidFill>
            <a:srgbClr val="FBE9E2"/>
          </a:solidFill>
          <a:ln w="19050">
            <a:solidFill>
              <a:srgbClr val="C8401A"/>
            </a:solidFill>
            <a:prstDash val="solid"/>
          </a:ln>
        </p:spPr>
      </p:sp>
      <p:sp>
        <p:nvSpPr>
          <p:cNvPr id="14" name="Text 11"/>
          <p:cNvSpPr txBox="1"/>
          <p:nvPr/>
        </p:nvSpPr>
        <p:spPr>
          <a:xfrm>
            <a:off x="8321040" y="192024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Buzzer + SMS</a:t>
            </a:r>
            <a:endParaRPr lang="en-US" sz="2000" dirty="0"/>
          </a:p>
        </p:txBody>
      </p:sp>
      <p:sp>
        <p:nvSpPr>
          <p:cNvPr id="15" name="Text 12"/>
          <p:cNvSpPr txBox="1"/>
          <p:nvPr/>
        </p:nvSpPr>
        <p:spPr>
          <a:xfrm>
            <a:off x="8321040" y="242316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no network needed</a:t>
            </a:r>
            <a:endParaRPr lang="en-US" sz="1500" dirty="0"/>
          </a:p>
        </p:txBody>
      </p:sp>
      <p:sp>
        <p:nvSpPr>
          <p:cNvPr id="16" name="Text 13"/>
          <p:cNvSpPr txBox="1"/>
          <p:nvPr/>
        </p:nvSpPr>
        <p:spPr>
          <a:xfrm>
            <a:off x="548640" y="3383280"/>
            <a:ext cx="7315200" cy="365760"/>
          </a:xfrm>
          <a:prstGeom prst="rect">
            <a:avLst/>
          </a:prstGeom>
          <a:noFill/>
          <a:ln/>
        </p:spPr>
        <p:txBody>
          <a:bodyPr wrap="square" lIns="50800" tIns="50800" rIns="50800" bIns="50800" rtlCol="0" anchor="t"/>
          <a:lstStyle/>
          <a:p>
            <a:pPr algn="l" indent="0" marL="0">
              <a:buNone/>
            </a:pPr>
            <a:r>
              <a:rPr lang="en-US" sz="1500" b="1" spc="200" kern="0" dirty="0">
                <a:solidFill>
                  <a:srgbClr val="4A5B69"/>
                </a:solidFill>
                <a:latin typeface="Calibri" pitchFamily="34" charset="0"/>
                <a:ea typeface="Calibri" pitchFamily="34" charset="-122"/>
                <a:cs typeface="Calibri" pitchFamily="34" charset="-120"/>
              </a:rPr>
              <a:t>BONUS · only when online</a:t>
            </a:r>
            <a:endParaRPr lang="en-US" sz="1500" dirty="0"/>
          </a:p>
        </p:txBody>
      </p:sp>
      <p:sp>
        <p:nvSpPr>
          <p:cNvPr id="17" name="Shape 14"/>
          <p:cNvSpPr/>
          <p:nvPr/>
        </p:nvSpPr>
        <p:spPr>
          <a:xfrm>
            <a:off x="548640" y="3794760"/>
            <a:ext cx="3383280" cy="1234440"/>
          </a:xfrm>
          <a:prstGeom prst="roundRect">
            <a:avLst>
              <a:gd name="adj" fmla="val 8889"/>
            </a:avLst>
          </a:prstGeom>
          <a:solidFill>
            <a:srgbClr val="EEF2F5"/>
          </a:solidFill>
          <a:ln w="19050">
            <a:solidFill>
              <a:srgbClr val="7B8A97"/>
            </a:solidFill>
            <a:prstDash val="dash"/>
          </a:ln>
        </p:spPr>
      </p:sp>
      <p:sp>
        <p:nvSpPr>
          <p:cNvPr id="18" name="Text 15"/>
          <p:cNvSpPr txBox="1"/>
          <p:nvPr/>
        </p:nvSpPr>
        <p:spPr>
          <a:xfrm>
            <a:off x="731520" y="393192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Live weather</a:t>
            </a:r>
            <a:endParaRPr lang="en-US" sz="2000" dirty="0"/>
          </a:p>
        </p:txBody>
      </p:sp>
      <p:sp>
        <p:nvSpPr>
          <p:cNvPr id="19" name="Text 16"/>
          <p:cNvSpPr txBox="1"/>
          <p:nvPr/>
        </p:nvSpPr>
        <p:spPr>
          <a:xfrm>
            <a:off x="731520" y="443484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Open-Meteo, thunderstorm code</a:t>
            </a:r>
            <a:endParaRPr lang="en-US" sz="1500" dirty="0"/>
          </a:p>
        </p:txBody>
      </p:sp>
      <p:sp>
        <p:nvSpPr>
          <p:cNvPr id="20" name="Shape 17"/>
          <p:cNvSpPr/>
          <p:nvPr/>
        </p:nvSpPr>
        <p:spPr>
          <a:xfrm>
            <a:off x="4343400" y="3794760"/>
            <a:ext cx="3383280" cy="1234440"/>
          </a:xfrm>
          <a:prstGeom prst="roundRect">
            <a:avLst>
              <a:gd name="adj" fmla="val 8889"/>
            </a:avLst>
          </a:prstGeom>
          <a:solidFill>
            <a:srgbClr val="EEF2F5"/>
          </a:solidFill>
          <a:ln w="19050">
            <a:solidFill>
              <a:srgbClr val="7B8A97"/>
            </a:solidFill>
            <a:prstDash val="dash"/>
          </a:ln>
        </p:spPr>
      </p:sp>
      <p:sp>
        <p:nvSpPr>
          <p:cNvPr id="21" name="Text 18"/>
          <p:cNvSpPr txBox="1"/>
          <p:nvPr/>
        </p:nvSpPr>
        <p:spPr>
          <a:xfrm>
            <a:off x="4526280" y="393192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Friendly sentence</a:t>
            </a:r>
            <a:endParaRPr lang="en-US" sz="2000" dirty="0"/>
          </a:p>
        </p:txBody>
      </p:sp>
      <p:sp>
        <p:nvSpPr>
          <p:cNvPr id="22" name="Text 19"/>
          <p:cNvSpPr txBox="1"/>
          <p:nvPr/>
        </p:nvSpPr>
        <p:spPr>
          <a:xfrm>
            <a:off x="4526280" y="443484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Groq language model</a:t>
            </a:r>
            <a:endParaRPr lang="en-US" sz="1500" dirty="0"/>
          </a:p>
        </p:txBody>
      </p:sp>
      <p:sp>
        <p:nvSpPr>
          <p:cNvPr id="23" name="Shape 20"/>
          <p:cNvSpPr/>
          <p:nvPr/>
        </p:nvSpPr>
        <p:spPr>
          <a:xfrm>
            <a:off x="8138160" y="3794760"/>
            <a:ext cx="3383280" cy="1234440"/>
          </a:xfrm>
          <a:prstGeom prst="roundRect">
            <a:avLst>
              <a:gd name="adj" fmla="val 8889"/>
            </a:avLst>
          </a:prstGeom>
          <a:solidFill>
            <a:srgbClr val="EEF2F5"/>
          </a:solidFill>
          <a:ln w="19050">
            <a:solidFill>
              <a:srgbClr val="7B8A97"/>
            </a:solidFill>
            <a:prstDash val="dash"/>
          </a:ln>
        </p:spPr>
      </p:sp>
      <p:sp>
        <p:nvSpPr>
          <p:cNvPr id="24" name="Text 21"/>
          <p:cNvSpPr txBox="1"/>
          <p:nvPr/>
        </p:nvSpPr>
        <p:spPr>
          <a:xfrm>
            <a:off x="8321040" y="3931920"/>
            <a:ext cx="3017520" cy="457200"/>
          </a:xfrm>
          <a:prstGeom prst="rect">
            <a:avLst/>
          </a:prstGeom>
          <a:noFill/>
          <a:ln/>
        </p:spPr>
        <p:txBody>
          <a:bodyPr wrap="square" lIns="50800" tIns="50800" rIns="50800" bIns="50800" rtlCol="0" anchor="t"/>
          <a:lstStyle/>
          <a:p>
            <a:pPr algn="l" indent="0" marL="0">
              <a:buNone/>
            </a:pPr>
            <a:r>
              <a:rPr lang="en-US" sz="2000" b="1" dirty="0">
                <a:solidFill>
                  <a:srgbClr val="0F2530"/>
                </a:solidFill>
                <a:latin typeface="Cambria" pitchFamily="34" charset="0"/>
                <a:ea typeface="Cambria" pitchFamily="34" charset="-122"/>
                <a:cs typeface="Cambria" pitchFamily="34" charset="-120"/>
              </a:rPr>
              <a:t>Push + shelters</a:t>
            </a:r>
            <a:endParaRPr lang="en-US" sz="2000" dirty="0"/>
          </a:p>
        </p:txBody>
      </p:sp>
      <p:sp>
        <p:nvSpPr>
          <p:cNvPr id="25" name="Text 22"/>
          <p:cNvSpPr txBox="1"/>
          <p:nvPr/>
        </p:nvSpPr>
        <p:spPr>
          <a:xfrm>
            <a:off x="8321040" y="4434840"/>
            <a:ext cx="3017520" cy="457200"/>
          </a:xfrm>
          <a:prstGeom prst="rect">
            <a:avLst/>
          </a:prstGeom>
          <a:noFill/>
          <a:ln/>
        </p:spPr>
        <p:txBody>
          <a:bodyPr wrap="square" lIns="50800" tIns="50800" rIns="50800" bIns="50800" rtlCol="0" anchor="t"/>
          <a:lstStyle/>
          <a:p>
            <a:pPr algn="l" indent="0" marL="0">
              <a:buNone/>
            </a:pPr>
            <a:r>
              <a:rPr lang="en-US" sz="1500" dirty="0">
                <a:solidFill>
                  <a:srgbClr val="4A5B69"/>
                </a:solidFill>
                <a:latin typeface="Calibri" pitchFamily="34" charset="0"/>
                <a:ea typeface="Calibri" pitchFamily="34" charset="-122"/>
                <a:cs typeface="Calibri" pitchFamily="34" charset="-120"/>
              </a:rPr>
              <a:t>OpenStreetMap search</a:t>
            </a:r>
            <a:endParaRPr lang="en-US" sz="1500" dirty="0"/>
          </a:p>
        </p:txBody>
      </p:sp>
      <p:sp>
        <p:nvSpPr>
          <p:cNvPr id="26" name="Shape 23"/>
          <p:cNvSpPr/>
          <p:nvPr/>
        </p:nvSpPr>
        <p:spPr>
          <a:xfrm>
            <a:off x="548640" y="5394960"/>
            <a:ext cx="11064240" cy="868680"/>
          </a:xfrm>
          <a:prstGeom prst="roundRect">
            <a:avLst>
              <a:gd name="adj" fmla="val 12632"/>
            </a:avLst>
          </a:prstGeom>
          <a:solidFill>
            <a:srgbClr val="FFFFFF"/>
          </a:solidFill>
          <a:ln w="12700">
            <a:solidFill>
              <a:srgbClr val="CFD8E0"/>
            </a:solidFill>
            <a:prstDash val="solid"/>
          </a:ln>
        </p:spPr>
      </p:sp>
      <p:sp>
        <p:nvSpPr>
          <p:cNvPr id="27" name="Text 24"/>
          <p:cNvSpPr txBox="1"/>
          <p:nvPr/>
        </p:nvSpPr>
        <p:spPr>
          <a:xfrm>
            <a:off x="777240" y="5394960"/>
            <a:ext cx="10607040" cy="868680"/>
          </a:xfrm>
          <a:prstGeom prst="rect">
            <a:avLst/>
          </a:prstGeom>
          <a:noFill/>
          <a:ln/>
        </p:spPr>
        <p:txBody>
          <a:bodyPr wrap="square" lIns="50800" tIns="50800" rIns="50800" bIns="50800" rtlCol="0" anchor="ctr"/>
          <a:lstStyle/>
          <a:p>
            <a:pPr algn="l" indent="0" marL="0">
              <a:buNone/>
            </a:pPr>
            <a:r>
              <a:rPr lang="en-US" sz="1600" dirty="0">
                <a:solidFill>
                  <a:srgbClr val="0F2530"/>
                </a:solidFill>
                <a:latin typeface="Calibri" pitchFamily="34" charset="0"/>
                <a:ea typeface="Calibri" pitchFamily="34" charset="-122"/>
                <a:cs typeface="Calibri" pitchFamily="34" charset="-120"/>
              </a:rPr>
              <a:t>Offline readings are saved as “not synced” and caught up the moment the connection returns.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Warn people, then remember it</a:t>
            </a:r>
            <a:endParaRPr lang="en-US" sz="3400" dirty="0"/>
          </a:p>
        </p:txBody>
      </p:sp>
      <p:sp>
        <p:nvSpPr>
          <p:cNvPr id="4" name="Shape 1"/>
          <p:cNvSpPr/>
          <p:nvPr/>
        </p:nvSpPr>
        <p:spPr>
          <a:xfrm>
            <a:off x="548640" y="2514600"/>
            <a:ext cx="2194560" cy="1188720"/>
          </a:xfrm>
          <a:prstGeom prst="roundRect">
            <a:avLst>
              <a:gd name="adj" fmla="val 9231"/>
            </a:avLst>
          </a:prstGeom>
          <a:solidFill>
            <a:srgbClr val="FBE9E2"/>
          </a:solidFill>
          <a:ln w="19050">
            <a:solidFill>
              <a:srgbClr val="C8401A"/>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548640" y="2514600"/>
            <a:ext cx="2194560" cy="1188720"/>
          </a:xfrm>
          <a:prstGeom prst="rect">
            <a:avLst/>
          </a:prstGeom>
          <a:noFill/>
          <a:ln/>
        </p:spPr>
        <p:txBody>
          <a:bodyPr wrap="square" lIns="50800" tIns="50800" rIns="50800" bIns="50800" rtlCol="0" anchor="ctr"/>
          <a:lstStyle/>
          <a:p>
            <a:pPr algn="ctr" indent="0" marL="0">
              <a:buNone/>
            </a:pPr>
            <a:r>
              <a:rPr lang="en-US" sz="1800" b="1" dirty="0">
                <a:solidFill>
                  <a:srgbClr val="C8401A"/>
                </a:solidFill>
                <a:latin typeface="Cambria" pitchFamily="34" charset="0"/>
                <a:ea typeface="Cambria" pitchFamily="34" charset="-122"/>
                <a:cs typeface="Cambria" pitchFamily="34" charset="-120"/>
              </a:rPr>
              <a:t>Result is HIGH</a:t>
            </a:r>
            <a:endParaRPr lang="en-US" sz="1800" dirty="0"/>
          </a:p>
        </p:txBody>
      </p:sp>
      <p:sp>
        <p:nvSpPr>
          <p:cNvPr id="6" name="Shape 3"/>
          <p:cNvSpPr/>
          <p:nvPr/>
        </p:nvSpPr>
        <p:spPr>
          <a:xfrm>
            <a:off x="3474720" y="1463040"/>
            <a:ext cx="2926080" cy="1005840"/>
          </a:xfrm>
          <a:prstGeom prst="roundRect">
            <a:avLst>
              <a:gd name="adj" fmla="val 10909"/>
            </a:avLst>
          </a:prstGeom>
          <a:solidFill>
            <a:srgbClr val="E3F1F2"/>
          </a:solidFill>
          <a:ln w="19050">
            <a:solidFill>
              <a:srgbClr val="0D6B73"/>
            </a:solidFill>
            <a:prstDash val="solid"/>
          </a:ln>
        </p:spPr>
      </p:sp>
      <p:sp>
        <p:nvSpPr>
          <p:cNvPr id="7" name="Text 4"/>
          <p:cNvSpPr txBox="1"/>
          <p:nvPr/>
        </p:nvSpPr>
        <p:spPr>
          <a:xfrm>
            <a:off x="3657600" y="1554480"/>
            <a:ext cx="2651760" cy="411480"/>
          </a:xfrm>
          <a:prstGeom prst="rect">
            <a:avLst/>
          </a:prstGeom>
          <a:noFill/>
          <a:ln/>
        </p:spPr>
        <p:txBody>
          <a:bodyPr wrap="square" lIns="50800" tIns="50800" rIns="50800" bIns="50800" rtlCol="0" anchor="t"/>
          <a:lstStyle/>
          <a:p>
            <a:pPr algn="l" indent="0" marL="0">
              <a:buNone/>
            </a:pPr>
            <a:r>
              <a:rPr lang="en-US" sz="1800" b="1" dirty="0">
                <a:solidFill>
                  <a:srgbClr val="0F2530"/>
                </a:solidFill>
                <a:latin typeface="Cambria" pitchFamily="34" charset="0"/>
                <a:ea typeface="Cambria" pitchFamily="34" charset="-122"/>
                <a:cs typeface="Cambria" pitchFamily="34" charset="-120"/>
              </a:rPr>
              <a:t>Buzzer</a:t>
            </a:r>
            <a:endParaRPr lang="en-US" sz="1800" dirty="0"/>
          </a:p>
        </p:txBody>
      </p:sp>
      <p:sp>
        <p:nvSpPr>
          <p:cNvPr id="8" name="Text 5"/>
          <p:cNvSpPr txBox="1"/>
          <p:nvPr/>
        </p:nvSpPr>
        <p:spPr>
          <a:xfrm>
            <a:off x="3657600" y="1993392"/>
            <a:ext cx="2651760" cy="36576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local sound</a:t>
            </a:r>
            <a:endParaRPr lang="en-US" sz="1400" dirty="0"/>
          </a:p>
        </p:txBody>
      </p:sp>
      <p:sp>
        <p:nvSpPr>
          <p:cNvPr id="9" name="Shape 6"/>
          <p:cNvSpPr/>
          <p:nvPr/>
        </p:nvSpPr>
        <p:spPr>
          <a:xfrm flipV="1">
            <a:off x="2761488" y="1965960"/>
            <a:ext cx="694944" cy="1143000"/>
          </a:xfrm>
          <a:prstGeom prst="line">
            <a:avLst/>
          </a:prstGeom>
          <a:noFill/>
          <a:ln w="22225">
            <a:solidFill>
              <a:srgbClr val="4A5B69"/>
            </a:solidFill>
            <a:prstDash val="solid"/>
            <a:tailEnd type="triangle"/>
          </a:ln>
        </p:spPr>
      </p:sp>
      <p:sp>
        <p:nvSpPr>
          <p:cNvPr id="10" name="Shape 7"/>
          <p:cNvSpPr/>
          <p:nvPr/>
        </p:nvSpPr>
        <p:spPr>
          <a:xfrm>
            <a:off x="3474720" y="2651760"/>
            <a:ext cx="2926080" cy="1005840"/>
          </a:xfrm>
          <a:prstGeom prst="roundRect">
            <a:avLst>
              <a:gd name="adj" fmla="val 10909"/>
            </a:avLst>
          </a:prstGeom>
          <a:solidFill>
            <a:srgbClr val="E3F1F2"/>
          </a:solidFill>
          <a:ln w="19050">
            <a:solidFill>
              <a:srgbClr val="0D6B73"/>
            </a:solidFill>
            <a:prstDash val="solid"/>
          </a:ln>
        </p:spPr>
      </p:sp>
      <p:sp>
        <p:nvSpPr>
          <p:cNvPr id="11" name="Text 8"/>
          <p:cNvSpPr txBox="1"/>
          <p:nvPr/>
        </p:nvSpPr>
        <p:spPr>
          <a:xfrm>
            <a:off x="3657600" y="2743200"/>
            <a:ext cx="2651760" cy="411480"/>
          </a:xfrm>
          <a:prstGeom prst="rect">
            <a:avLst/>
          </a:prstGeom>
          <a:noFill/>
          <a:ln/>
        </p:spPr>
        <p:txBody>
          <a:bodyPr wrap="square" lIns="50800" tIns="50800" rIns="50800" bIns="50800" rtlCol="0" anchor="t"/>
          <a:lstStyle/>
          <a:p>
            <a:pPr algn="l" indent="0" marL="0">
              <a:buNone/>
            </a:pPr>
            <a:r>
              <a:rPr lang="en-US" sz="1800" b="1" dirty="0">
                <a:solidFill>
                  <a:srgbClr val="0F2530"/>
                </a:solidFill>
                <a:latin typeface="Cambria" pitchFamily="34" charset="0"/>
                <a:ea typeface="Cambria" pitchFamily="34" charset="-122"/>
                <a:cs typeface="Cambria" pitchFamily="34" charset="-120"/>
              </a:rPr>
              <a:t>SMS via GSM</a:t>
            </a:r>
            <a:endParaRPr lang="en-US" sz="1800" dirty="0"/>
          </a:p>
        </p:txBody>
      </p:sp>
      <p:sp>
        <p:nvSpPr>
          <p:cNvPr id="12" name="Text 9"/>
          <p:cNvSpPr txBox="1"/>
          <p:nvPr/>
        </p:nvSpPr>
        <p:spPr>
          <a:xfrm>
            <a:off x="3657600" y="3182112"/>
            <a:ext cx="2651760" cy="36576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no internet</a:t>
            </a:r>
            <a:endParaRPr lang="en-US" sz="1400" dirty="0"/>
          </a:p>
        </p:txBody>
      </p:sp>
      <p:sp>
        <p:nvSpPr>
          <p:cNvPr id="13" name="Shape 10"/>
          <p:cNvSpPr/>
          <p:nvPr/>
        </p:nvSpPr>
        <p:spPr>
          <a:xfrm>
            <a:off x="2761488" y="3108960"/>
            <a:ext cx="694944" cy="45720"/>
          </a:xfrm>
          <a:prstGeom prst="line">
            <a:avLst/>
          </a:prstGeom>
          <a:noFill/>
          <a:ln w="22225">
            <a:solidFill>
              <a:srgbClr val="4A5B69"/>
            </a:solidFill>
            <a:prstDash val="solid"/>
            <a:tailEnd type="triangle"/>
          </a:ln>
        </p:spPr>
      </p:sp>
      <p:sp>
        <p:nvSpPr>
          <p:cNvPr id="14" name="Shape 11"/>
          <p:cNvSpPr/>
          <p:nvPr/>
        </p:nvSpPr>
        <p:spPr>
          <a:xfrm>
            <a:off x="3474720" y="3840480"/>
            <a:ext cx="2926080" cy="1005840"/>
          </a:xfrm>
          <a:prstGeom prst="roundRect">
            <a:avLst>
              <a:gd name="adj" fmla="val 10909"/>
            </a:avLst>
          </a:prstGeom>
          <a:solidFill>
            <a:srgbClr val="EEF2F5"/>
          </a:solidFill>
          <a:ln w="19050">
            <a:solidFill>
              <a:srgbClr val="7B8A97"/>
            </a:solidFill>
            <a:prstDash val="dash"/>
          </a:ln>
        </p:spPr>
      </p:sp>
      <p:sp>
        <p:nvSpPr>
          <p:cNvPr id="15" name="Text 12"/>
          <p:cNvSpPr txBox="1"/>
          <p:nvPr/>
        </p:nvSpPr>
        <p:spPr>
          <a:xfrm>
            <a:off x="3657600" y="3931920"/>
            <a:ext cx="2651760" cy="411480"/>
          </a:xfrm>
          <a:prstGeom prst="rect">
            <a:avLst/>
          </a:prstGeom>
          <a:noFill/>
          <a:ln/>
        </p:spPr>
        <p:txBody>
          <a:bodyPr wrap="square" lIns="50800" tIns="50800" rIns="50800" bIns="50800" rtlCol="0" anchor="t"/>
          <a:lstStyle/>
          <a:p>
            <a:pPr algn="l" indent="0" marL="0">
              <a:buNone/>
            </a:pPr>
            <a:r>
              <a:rPr lang="en-US" sz="1800" b="1" dirty="0">
                <a:solidFill>
                  <a:srgbClr val="0F2530"/>
                </a:solidFill>
                <a:latin typeface="Cambria" pitchFamily="34" charset="0"/>
                <a:ea typeface="Cambria" pitchFamily="34" charset="-122"/>
                <a:cs typeface="Cambria" pitchFamily="34" charset="-120"/>
              </a:rPr>
              <a:t>App push</a:t>
            </a:r>
            <a:endParaRPr lang="en-US" sz="1800" dirty="0"/>
          </a:p>
        </p:txBody>
      </p:sp>
      <p:sp>
        <p:nvSpPr>
          <p:cNvPr id="16" name="Text 13"/>
          <p:cNvSpPr txBox="1"/>
          <p:nvPr/>
        </p:nvSpPr>
        <p:spPr>
          <a:xfrm>
            <a:off x="3657600" y="4370832"/>
            <a:ext cx="2651760" cy="36576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online only</a:t>
            </a:r>
            <a:endParaRPr lang="en-US" sz="1400" dirty="0"/>
          </a:p>
        </p:txBody>
      </p:sp>
      <p:sp>
        <p:nvSpPr>
          <p:cNvPr id="17" name="Shape 14"/>
          <p:cNvSpPr/>
          <p:nvPr/>
        </p:nvSpPr>
        <p:spPr>
          <a:xfrm>
            <a:off x="2761488" y="3108960"/>
            <a:ext cx="694944" cy="1234440"/>
          </a:xfrm>
          <a:prstGeom prst="line">
            <a:avLst/>
          </a:prstGeom>
          <a:noFill/>
          <a:ln w="22225">
            <a:solidFill>
              <a:srgbClr val="4A5B69"/>
            </a:solidFill>
            <a:prstDash val="dash"/>
            <a:tailEnd type="triangle"/>
          </a:ln>
        </p:spPr>
      </p:sp>
      <p:sp>
        <p:nvSpPr>
          <p:cNvPr id="18" name="Shape 15"/>
          <p:cNvSpPr/>
          <p:nvPr/>
        </p:nvSpPr>
        <p:spPr>
          <a:xfrm>
            <a:off x="3474720" y="5029200"/>
            <a:ext cx="2926080" cy="1005840"/>
          </a:xfrm>
          <a:prstGeom prst="roundRect">
            <a:avLst>
              <a:gd name="adj" fmla="val 10909"/>
            </a:avLst>
          </a:prstGeom>
          <a:solidFill>
            <a:srgbClr val="E3F1F2"/>
          </a:solidFill>
          <a:ln w="19050">
            <a:solidFill>
              <a:srgbClr val="0D6B73"/>
            </a:solidFill>
            <a:prstDash val="solid"/>
          </a:ln>
        </p:spPr>
      </p:sp>
      <p:sp>
        <p:nvSpPr>
          <p:cNvPr id="19" name="Text 16"/>
          <p:cNvSpPr txBox="1"/>
          <p:nvPr/>
        </p:nvSpPr>
        <p:spPr>
          <a:xfrm>
            <a:off x="3657600" y="5120640"/>
            <a:ext cx="2651760" cy="411480"/>
          </a:xfrm>
          <a:prstGeom prst="rect">
            <a:avLst/>
          </a:prstGeom>
          <a:noFill/>
          <a:ln/>
        </p:spPr>
        <p:txBody>
          <a:bodyPr wrap="square" lIns="50800" tIns="50800" rIns="50800" bIns="50800" rtlCol="0" anchor="t"/>
          <a:lstStyle/>
          <a:p>
            <a:pPr algn="l" indent="0" marL="0">
              <a:buNone/>
            </a:pPr>
            <a:r>
              <a:rPr lang="en-US" sz="1800" b="1" dirty="0">
                <a:solidFill>
                  <a:srgbClr val="0F2530"/>
                </a:solidFill>
                <a:latin typeface="Cambria" pitchFamily="34" charset="0"/>
                <a:ea typeface="Cambria" pitchFamily="34" charset="-122"/>
                <a:cs typeface="Cambria" pitchFamily="34" charset="-120"/>
              </a:rPr>
              <a:t>Save alert</a:t>
            </a:r>
            <a:endParaRPr lang="en-US" sz="1800" dirty="0"/>
          </a:p>
        </p:txBody>
      </p:sp>
      <p:sp>
        <p:nvSpPr>
          <p:cNvPr id="20" name="Text 17"/>
          <p:cNvSpPr txBox="1"/>
          <p:nvPr/>
        </p:nvSpPr>
        <p:spPr>
          <a:xfrm>
            <a:off x="3657600" y="5559552"/>
            <a:ext cx="2651760" cy="36576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SQLite</a:t>
            </a:r>
            <a:endParaRPr lang="en-US" sz="1400" dirty="0"/>
          </a:p>
        </p:txBody>
      </p:sp>
      <p:sp>
        <p:nvSpPr>
          <p:cNvPr id="21" name="Shape 18"/>
          <p:cNvSpPr/>
          <p:nvPr/>
        </p:nvSpPr>
        <p:spPr>
          <a:xfrm>
            <a:off x="2761488" y="3108960"/>
            <a:ext cx="694944" cy="2423160"/>
          </a:xfrm>
          <a:prstGeom prst="line">
            <a:avLst/>
          </a:prstGeom>
          <a:noFill/>
          <a:ln w="22225">
            <a:solidFill>
              <a:srgbClr val="4A5B69"/>
            </a:solidFill>
            <a:prstDash val="solid"/>
            <a:tailEnd type="triangle"/>
          </a:ln>
        </p:spPr>
      </p:sp>
      <p:sp>
        <p:nvSpPr>
          <p:cNvPr id="22" name="Shape 19"/>
          <p:cNvSpPr/>
          <p:nvPr/>
        </p:nvSpPr>
        <p:spPr>
          <a:xfrm>
            <a:off x="6858000" y="1463040"/>
            <a:ext cx="2286000" cy="4480560"/>
          </a:xfrm>
          <a:prstGeom prst="roundRect">
            <a:avLst>
              <a:gd name="adj" fmla="val 48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3" name="Text 20"/>
          <p:cNvSpPr txBox="1"/>
          <p:nvPr/>
        </p:nvSpPr>
        <p:spPr>
          <a:xfrm>
            <a:off x="7040880" y="1554480"/>
            <a:ext cx="1920240" cy="457200"/>
          </a:xfrm>
          <a:prstGeom prst="rect">
            <a:avLst/>
          </a:prstGeom>
          <a:noFill/>
          <a:ln/>
        </p:spPr>
        <p:txBody>
          <a:bodyPr wrap="square" lIns="50800" tIns="50800" rIns="50800" bIns="50800" rtlCol="0" anchor="t"/>
          <a:lstStyle/>
          <a:p>
            <a:pPr algn="l" indent="0" marL="0">
              <a:buNone/>
            </a:pPr>
            <a:r>
              <a:rPr lang="en-US" sz="2000" b="1" dirty="0">
                <a:solidFill>
                  <a:srgbClr val="0D6B73"/>
                </a:solidFill>
                <a:latin typeface="Cambria" pitchFamily="34" charset="0"/>
                <a:ea typeface="Cambria" pitchFamily="34" charset="-122"/>
                <a:cs typeface="Cambria" pitchFamily="34" charset="-120"/>
              </a:rPr>
              <a:t>readings</a:t>
            </a:r>
            <a:endParaRPr lang="en-US" sz="2000" dirty="0"/>
          </a:p>
        </p:txBody>
      </p:sp>
      <p:sp>
        <p:nvSpPr>
          <p:cNvPr id="24" name="Text 21"/>
          <p:cNvSpPr txBox="1"/>
          <p:nvPr/>
        </p:nvSpPr>
        <p:spPr>
          <a:xfrm>
            <a:off x="7040880" y="2057400"/>
            <a:ext cx="2011680" cy="3749040"/>
          </a:xfrm>
          <a:prstGeom prst="rect">
            <a:avLst/>
          </a:prstGeom>
          <a:noFill/>
          <a:ln/>
        </p:spPr>
        <p:txBody>
          <a:bodyPr wrap="square" lIns="50800" tIns="50800" rIns="50800" bIns="50800" rtlCol="0" anchor="t"/>
          <a:lstStyle/>
          <a:p>
            <a:pPr algn="l" indent="0" marL="0">
              <a:buNone/>
            </a:pPr>
            <a:r>
              <a:rPr lang="en-US" sz="1300" dirty="0">
                <a:solidFill>
                  <a:srgbClr val="4A5B69"/>
                </a:solidFill>
                <a:latin typeface="Consolas" pitchFamily="34" charset="0"/>
                <a:ea typeface="Consolas" pitchFamily="34" charset="-122"/>
                <a:cs typeface="Consolas" pitchFamily="34" charset="-120"/>
              </a:rPr>
              <a:t>id · timestamp</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lat · lon</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water_level_cm</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rain_rate_mm_hr</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pressure_hpa</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vibration_g</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wind_speed_kmh</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sea_level_change_cm</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synced (0 / 1)</a:t>
            </a:r>
            <a:endParaRPr lang="en-US" sz="1300" dirty="0"/>
          </a:p>
        </p:txBody>
      </p:sp>
      <p:sp>
        <p:nvSpPr>
          <p:cNvPr id="25" name="Shape 22"/>
          <p:cNvSpPr/>
          <p:nvPr/>
        </p:nvSpPr>
        <p:spPr>
          <a:xfrm>
            <a:off x="9326880" y="1463040"/>
            <a:ext cx="2286000" cy="4480560"/>
          </a:xfrm>
          <a:prstGeom prst="roundRect">
            <a:avLst>
              <a:gd name="adj" fmla="val 48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6" name="Text 23"/>
          <p:cNvSpPr txBox="1"/>
          <p:nvPr/>
        </p:nvSpPr>
        <p:spPr>
          <a:xfrm>
            <a:off x="9509760" y="1554480"/>
            <a:ext cx="1920240" cy="457200"/>
          </a:xfrm>
          <a:prstGeom prst="rect">
            <a:avLst/>
          </a:prstGeom>
          <a:noFill/>
          <a:ln/>
        </p:spPr>
        <p:txBody>
          <a:bodyPr wrap="square" lIns="50800" tIns="50800" rIns="50800" bIns="50800" rtlCol="0" anchor="t"/>
          <a:lstStyle/>
          <a:p>
            <a:pPr algn="l" indent="0" marL="0">
              <a:buNone/>
            </a:pPr>
            <a:r>
              <a:rPr lang="en-US" sz="2000" b="1" dirty="0">
                <a:solidFill>
                  <a:srgbClr val="C8401A"/>
                </a:solidFill>
                <a:latin typeface="Cambria" pitchFamily="34" charset="0"/>
                <a:ea typeface="Cambria" pitchFamily="34" charset="-122"/>
                <a:cs typeface="Cambria" pitchFamily="34" charset="-120"/>
              </a:rPr>
              <a:t>alerts</a:t>
            </a:r>
            <a:endParaRPr lang="en-US" sz="2000" dirty="0"/>
          </a:p>
        </p:txBody>
      </p:sp>
      <p:sp>
        <p:nvSpPr>
          <p:cNvPr id="27" name="Text 24"/>
          <p:cNvSpPr txBox="1"/>
          <p:nvPr/>
        </p:nvSpPr>
        <p:spPr>
          <a:xfrm>
            <a:off x="9509760" y="2057400"/>
            <a:ext cx="2011680" cy="2743200"/>
          </a:xfrm>
          <a:prstGeom prst="rect">
            <a:avLst/>
          </a:prstGeom>
          <a:noFill/>
          <a:ln/>
        </p:spPr>
        <p:txBody>
          <a:bodyPr wrap="square" lIns="50800" tIns="50800" rIns="50800" bIns="50800" rtlCol="0" anchor="t"/>
          <a:lstStyle/>
          <a:p>
            <a:pPr algn="l" indent="0" marL="0">
              <a:buNone/>
            </a:pPr>
            <a:r>
              <a:rPr lang="en-US" sz="1300" dirty="0">
                <a:solidFill>
                  <a:srgbClr val="4A5B69"/>
                </a:solidFill>
                <a:latin typeface="Consolas" pitchFamily="34" charset="0"/>
                <a:ea typeface="Consolas" pitchFamily="34" charset="-122"/>
                <a:cs typeface="Consolas" pitchFamily="34" charset="-120"/>
              </a:rPr>
              <a:t>id · timestamp</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hazard_type</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risk_level</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reasoning</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lat · lon</a:t>
            </a:r>
            <a:endParaRPr lang="en-US" sz="1300" dirty="0"/>
          </a:p>
          <a:p>
            <a:pPr algn="l" indent="0" marL="0">
              <a:buNone/>
            </a:pPr>
            <a:r>
              <a:rPr lang="en-US" sz="1300" dirty="0">
                <a:solidFill>
                  <a:srgbClr val="4A5B69"/>
                </a:solidFill>
                <a:latin typeface="Consolas" pitchFamily="34" charset="0"/>
                <a:ea typeface="Consolas" pitchFamily="34" charset="-122"/>
                <a:cs typeface="Consolas" pitchFamily="34" charset="-120"/>
              </a:rPr>
              <a:t>mode (online / offline)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A phone-style app with five screens</a:t>
            </a:r>
            <a:endParaRPr lang="en-US" sz="3400" dirty="0"/>
          </a:p>
        </p:txBody>
      </p:sp>
      <p:sp>
        <p:nvSpPr>
          <p:cNvPr id="4" name="Shape 1"/>
          <p:cNvSpPr/>
          <p:nvPr/>
        </p:nvSpPr>
        <p:spPr>
          <a:xfrm>
            <a:off x="484632" y="1417320"/>
            <a:ext cx="2011680" cy="4160520"/>
          </a:xfrm>
          <a:prstGeom prst="roundRect">
            <a:avLst>
              <a:gd name="adj" fmla="val 10000"/>
            </a:avLst>
          </a:prstGeom>
          <a:solidFill>
            <a:srgbClr val="FFFFFF"/>
          </a:solidFill>
          <a:ln w="25400">
            <a:solidFill>
              <a:srgbClr val="0F2530"/>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594360" y="1554480"/>
            <a:ext cx="1792224" cy="457200"/>
          </a:xfrm>
          <a:prstGeom prst="roundRect">
            <a:avLst>
              <a:gd name="adj" fmla="val 16000"/>
            </a:avLst>
          </a:prstGeom>
          <a:solidFill>
            <a:srgbClr val="0D6B73"/>
          </a:solidFill>
          <a:ln w="12700">
            <a:solidFill>
              <a:srgbClr val="0D6B73"/>
            </a:solidFill>
            <a:prstDash val="solid"/>
          </a:ln>
        </p:spPr>
      </p:sp>
      <p:sp>
        <p:nvSpPr>
          <p:cNvPr id="6" name="Text 3"/>
          <p:cNvSpPr txBox="1"/>
          <p:nvPr/>
        </p:nvSpPr>
        <p:spPr>
          <a:xfrm>
            <a:off x="594360" y="1554480"/>
            <a:ext cx="1792224" cy="45720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Home</a:t>
            </a:r>
            <a:endParaRPr lang="en-US" sz="1600" dirty="0"/>
          </a:p>
        </p:txBody>
      </p:sp>
      <p:sp>
        <p:nvSpPr>
          <p:cNvPr id="7" name="Shape 4"/>
          <p:cNvSpPr/>
          <p:nvPr/>
        </p:nvSpPr>
        <p:spPr>
          <a:xfrm>
            <a:off x="594360" y="2194560"/>
            <a:ext cx="1792224" cy="640080"/>
          </a:xfrm>
          <a:prstGeom prst="roundRect">
            <a:avLst>
              <a:gd name="adj" fmla="val 8571"/>
            </a:avLst>
          </a:prstGeom>
          <a:solidFill>
            <a:srgbClr val="FBE9E2"/>
          </a:solidFill>
          <a:ln w="12700">
            <a:solidFill>
              <a:srgbClr val="C8401A"/>
            </a:solidFill>
            <a:prstDash val="solid"/>
          </a:ln>
        </p:spPr>
      </p:sp>
      <p:sp>
        <p:nvSpPr>
          <p:cNvPr id="8" name="Text 5"/>
          <p:cNvSpPr txBox="1"/>
          <p:nvPr/>
        </p:nvSpPr>
        <p:spPr>
          <a:xfrm>
            <a:off x="594360" y="2194560"/>
            <a:ext cx="1792224" cy="640080"/>
          </a:xfrm>
          <a:prstGeom prst="rect">
            <a:avLst/>
          </a:prstGeom>
          <a:noFill/>
          <a:ln/>
        </p:spPr>
        <p:txBody>
          <a:bodyPr wrap="square" lIns="50800" tIns="50800" rIns="50800" bIns="50800" rtlCol="0" anchor="ctr"/>
          <a:lstStyle/>
          <a:p>
            <a:pPr algn="ctr" indent="0" marL="0">
              <a:buNone/>
            </a:pPr>
            <a:r>
              <a:rPr lang="en-US" sz="1300" b="1" dirty="0">
                <a:solidFill>
                  <a:srgbClr val="0F2530"/>
                </a:solidFill>
                <a:latin typeface="Calibri" pitchFamily="34" charset="0"/>
                <a:ea typeface="Calibri" pitchFamily="34" charset="-122"/>
                <a:cs typeface="Calibri" pitchFamily="34" charset="-120"/>
              </a:rPr>
              <a:t>Risk: LOW / HIGH</a:t>
            </a:r>
            <a:endParaRPr lang="en-US" sz="1300" dirty="0"/>
          </a:p>
        </p:txBody>
      </p:sp>
      <p:sp>
        <p:nvSpPr>
          <p:cNvPr id="9" name="Shape 6"/>
          <p:cNvSpPr/>
          <p:nvPr/>
        </p:nvSpPr>
        <p:spPr>
          <a:xfrm>
            <a:off x="594360" y="2971800"/>
            <a:ext cx="1792224" cy="640080"/>
          </a:xfrm>
          <a:prstGeom prst="roundRect">
            <a:avLst>
              <a:gd name="adj" fmla="val 8571"/>
            </a:avLst>
          </a:prstGeom>
          <a:solidFill>
            <a:srgbClr val="E3F1F2"/>
          </a:solidFill>
          <a:ln w="12700">
            <a:solidFill>
              <a:srgbClr val="0D6B73"/>
            </a:solidFill>
            <a:prstDash val="solid"/>
          </a:ln>
        </p:spPr>
      </p:sp>
      <p:sp>
        <p:nvSpPr>
          <p:cNvPr id="10" name="Text 7"/>
          <p:cNvSpPr txBox="1"/>
          <p:nvPr/>
        </p:nvSpPr>
        <p:spPr>
          <a:xfrm>
            <a:off x="594360" y="297180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4 hazard answers</a:t>
            </a:r>
            <a:endParaRPr lang="en-US" sz="1300" dirty="0"/>
          </a:p>
        </p:txBody>
      </p:sp>
      <p:sp>
        <p:nvSpPr>
          <p:cNvPr id="11" name="Shape 8"/>
          <p:cNvSpPr/>
          <p:nvPr/>
        </p:nvSpPr>
        <p:spPr>
          <a:xfrm>
            <a:off x="594360" y="3749040"/>
            <a:ext cx="1792224" cy="640080"/>
          </a:xfrm>
          <a:prstGeom prst="roundRect">
            <a:avLst>
              <a:gd name="adj" fmla="val 8571"/>
            </a:avLst>
          </a:prstGeom>
          <a:solidFill>
            <a:srgbClr val="E3F1F2"/>
          </a:solidFill>
          <a:ln w="12700">
            <a:solidFill>
              <a:srgbClr val="0D6B73"/>
            </a:solidFill>
            <a:prstDash val="solid"/>
          </a:ln>
        </p:spPr>
      </p:sp>
      <p:sp>
        <p:nvSpPr>
          <p:cNvPr id="12" name="Text 9"/>
          <p:cNvSpPr txBox="1"/>
          <p:nvPr/>
        </p:nvSpPr>
        <p:spPr>
          <a:xfrm>
            <a:off x="594360" y="374904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sensors + weather</a:t>
            </a:r>
            <a:endParaRPr lang="en-US" sz="1300" dirty="0"/>
          </a:p>
        </p:txBody>
      </p:sp>
      <p:sp>
        <p:nvSpPr>
          <p:cNvPr id="13" name="Shape 10"/>
          <p:cNvSpPr/>
          <p:nvPr/>
        </p:nvSpPr>
        <p:spPr>
          <a:xfrm>
            <a:off x="758952" y="5230368"/>
            <a:ext cx="146304" cy="146304"/>
          </a:xfrm>
          <a:prstGeom prst="ellipse">
            <a:avLst/>
          </a:prstGeom>
          <a:solidFill>
            <a:srgbClr val="0D6B73"/>
          </a:solidFill>
          <a:ln w="12700">
            <a:solidFill>
              <a:srgbClr val="0D6B73"/>
            </a:solidFill>
            <a:prstDash val="solid"/>
          </a:ln>
        </p:spPr>
      </p:sp>
      <p:sp>
        <p:nvSpPr>
          <p:cNvPr id="14" name="Shape 11"/>
          <p:cNvSpPr/>
          <p:nvPr/>
        </p:nvSpPr>
        <p:spPr>
          <a:xfrm>
            <a:off x="1088136" y="5230368"/>
            <a:ext cx="146304" cy="146304"/>
          </a:xfrm>
          <a:prstGeom prst="ellipse">
            <a:avLst/>
          </a:prstGeom>
          <a:solidFill>
            <a:srgbClr val="CFD8E0"/>
          </a:solidFill>
          <a:ln w="12700">
            <a:solidFill>
              <a:srgbClr val="CFD8E0"/>
            </a:solidFill>
            <a:prstDash val="solid"/>
          </a:ln>
        </p:spPr>
      </p:sp>
      <p:sp>
        <p:nvSpPr>
          <p:cNvPr id="15" name="Shape 12"/>
          <p:cNvSpPr/>
          <p:nvPr/>
        </p:nvSpPr>
        <p:spPr>
          <a:xfrm>
            <a:off x="1417320" y="5230368"/>
            <a:ext cx="146304" cy="146304"/>
          </a:xfrm>
          <a:prstGeom prst="ellipse">
            <a:avLst/>
          </a:prstGeom>
          <a:solidFill>
            <a:srgbClr val="CFD8E0"/>
          </a:solidFill>
          <a:ln w="12700">
            <a:solidFill>
              <a:srgbClr val="CFD8E0"/>
            </a:solidFill>
            <a:prstDash val="solid"/>
          </a:ln>
        </p:spPr>
      </p:sp>
      <p:sp>
        <p:nvSpPr>
          <p:cNvPr id="16" name="Shape 13"/>
          <p:cNvSpPr/>
          <p:nvPr/>
        </p:nvSpPr>
        <p:spPr>
          <a:xfrm>
            <a:off x="1746504" y="5230368"/>
            <a:ext cx="146304" cy="146304"/>
          </a:xfrm>
          <a:prstGeom prst="ellipse">
            <a:avLst/>
          </a:prstGeom>
          <a:solidFill>
            <a:srgbClr val="CFD8E0"/>
          </a:solidFill>
          <a:ln w="12700">
            <a:solidFill>
              <a:srgbClr val="CFD8E0"/>
            </a:solidFill>
            <a:prstDash val="solid"/>
          </a:ln>
        </p:spPr>
      </p:sp>
      <p:sp>
        <p:nvSpPr>
          <p:cNvPr id="17" name="Shape 14"/>
          <p:cNvSpPr/>
          <p:nvPr/>
        </p:nvSpPr>
        <p:spPr>
          <a:xfrm>
            <a:off x="2075688" y="5230368"/>
            <a:ext cx="146304" cy="146304"/>
          </a:xfrm>
          <a:prstGeom prst="ellipse">
            <a:avLst/>
          </a:prstGeom>
          <a:solidFill>
            <a:srgbClr val="CFD8E0"/>
          </a:solidFill>
          <a:ln w="12700">
            <a:solidFill>
              <a:srgbClr val="CFD8E0"/>
            </a:solidFill>
            <a:prstDash val="solid"/>
          </a:ln>
        </p:spPr>
      </p:sp>
      <p:sp>
        <p:nvSpPr>
          <p:cNvPr id="18" name="Text 15"/>
          <p:cNvSpPr txBox="1"/>
          <p:nvPr/>
        </p:nvSpPr>
        <p:spPr>
          <a:xfrm>
            <a:off x="484632" y="5715000"/>
            <a:ext cx="201168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current risk</a:t>
            </a:r>
            <a:endParaRPr lang="en-US" sz="1400" dirty="0"/>
          </a:p>
        </p:txBody>
      </p:sp>
      <p:sp>
        <p:nvSpPr>
          <p:cNvPr id="19" name="Shape 16"/>
          <p:cNvSpPr/>
          <p:nvPr/>
        </p:nvSpPr>
        <p:spPr>
          <a:xfrm>
            <a:off x="2788920" y="1417320"/>
            <a:ext cx="2011680" cy="4160520"/>
          </a:xfrm>
          <a:prstGeom prst="roundRect">
            <a:avLst>
              <a:gd name="adj" fmla="val 10000"/>
            </a:avLst>
          </a:prstGeom>
          <a:solidFill>
            <a:srgbClr val="FFFFFF"/>
          </a:solidFill>
          <a:ln w="25400">
            <a:solidFill>
              <a:srgbClr val="0F2530"/>
            </a:solidFill>
            <a:prstDash val="solid"/>
          </a:ln>
          <a:effectLst>
            <a:outerShdw sx="100000" sy="100000" kx="0" ky="0" algn="bl" rotWithShape="0" blurRad="101600" dist="25400" dir="5400000">
              <a:srgbClr val="000000">
                <a:alpha val="12000"/>
              </a:srgbClr>
            </a:outerShdw>
          </a:effectLst>
        </p:spPr>
      </p:sp>
      <p:sp>
        <p:nvSpPr>
          <p:cNvPr id="20" name="Shape 17"/>
          <p:cNvSpPr/>
          <p:nvPr/>
        </p:nvSpPr>
        <p:spPr>
          <a:xfrm>
            <a:off x="2898648" y="1554480"/>
            <a:ext cx="1792224" cy="457200"/>
          </a:xfrm>
          <a:prstGeom prst="roundRect">
            <a:avLst>
              <a:gd name="adj" fmla="val 16000"/>
            </a:avLst>
          </a:prstGeom>
          <a:solidFill>
            <a:srgbClr val="0D6B73"/>
          </a:solidFill>
          <a:ln w="12700">
            <a:solidFill>
              <a:srgbClr val="0D6B73"/>
            </a:solidFill>
            <a:prstDash val="solid"/>
          </a:ln>
        </p:spPr>
      </p:sp>
      <p:sp>
        <p:nvSpPr>
          <p:cNvPr id="21" name="Text 18"/>
          <p:cNvSpPr txBox="1"/>
          <p:nvPr/>
        </p:nvSpPr>
        <p:spPr>
          <a:xfrm>
            <a:off x="2898648" y="1554480"/>
            <a:ext cx="1792224" cy="45720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Shelter</a:t>
            </a:r>
            <a:endParaRPr lang="en-US" sz="1600" dirty="0"/>
          </a:p>
        </p:txBody>
      </p:sp>
      <p:sp>
        <p:nvSpPr>
          <p:cNvPr id="22" name="Shape 19"/>
          <p:cNvSpPr/>
          <p:nvPr/>
        </p:nvSpPr>
        <p:spPr>
          <a:xfrm>
            <a:off x="2898648" y="2194560"/>
            <a:ext cx="1792224" cy="640080"/>
          </a:xfrm>
          <a:prstGeom prst="roundRect">
            <a:avLst>
              <a:gd name="adj" fmla="val 8571"/>
            </a:avLst>
          </a:prstGeom>
          <a:solidFill>
            <a:srgbClr val="E3F1F2"/>
          </a:solidFill>
          <a:ln w="12700">
            <a:solidFill>
              <a:srgbClr val="0D6B73"/>
            </a:solidFill>
            <a:prstDash val="solid"/>
          </a:ln>
        </p:spPr>
      </p:sp>
      <p:sp>
        <p:nvSpPr>
          <p:cNvPr id="23" name="Text 20"/>
          <p:cNvSpPr txBox="1"/>
          <p:nvPr/>
        </p:nvSpPr>
        <p:spPr>
          <a:xfrm>
            <a:off x="2898648" y="2194560"/>
            <a:ext cx="1792224" cy="640080"/>
          </a:xfrm>
          <a:prstGeom prst="rect">
            <a:avLst/>
          </a:prstGeom>
          <a:noFill/>
          <a:ln/>
        </p:spPr>
        <p:txBody>
          <a:bodyPr wrap="square" lIns="50800" tIns="50800" rIns="50800" bIns="50800" rtlCol="0" anchor="ctr"/>
          <a:lstStyle/>
          <a:p>
            <a:pPr algn="ctr" indent="0" marL="0">
              <a:buNone/>
            </a:pPr>
            <a:r>
              <a:rPr lang="en-US" sz="1300" b="1" dirty="0">
                <a:solidFill>
                  <a:srgbClr val="0F2530"/>
                </a:solidFill>
                <a:latin typeface="Calibri" pitchFamily="34" charset="0"/>
                <a:ea typeface="Calibri" pitchFamily="34" charset="-122"/>
                <a:cs typeface="Calibri" pitchFamily="34" charset="-120"/>
              </a:rPr>
              <a:t>Nearest place</a:t>
            </a:r>
            <a:endParaRPr lang="en-US" sz="1300" dirty="0"/>
          </a:p>
        </p:txBody>
      </p:sp>
      <p:sp>
        <p:nvSpPr>
          <p:cNvPr id="24" name="Shape 21"/>
          <p:cNvSpPr/>
          <p:nvPr/>
        </p:nvSpPr>
        <p:spPr>
          <a:xfrm>
            <a:off x="2898648" y="2971800"/>
            <a:ext cx="1792224" cy="640080"/>
          </a:xfrm>
          <a:prstGeom prst="roundRect">
            <a:avLst>
              <a:gd name="adj" fmla="val 8571"/>
            </a:avLst>
          </a:prstGeom>
          <a:solidFill>
            <a:srgbClr val="E3F1F2"/>
          </a:solidFill>
          <a:ln w="12700">
            <a:solidFill>
              <a:srgbClr val="0D6B73"/>
            </a:solidFill>
            <a:prstDash val="solid"/>
          </a:ln>
        </p:spPr>
      </p:sp>
      <p:sp>
        <p:nvSpPr>
          <p:cNvPr id="25" name="Text 22"/>
          <p:cNvSpPr txBox="1"/>
          <p:nvPr/>
        </p:nvSpPr>
        <p:spPr>
          <a:xfrm>
            <a:off x="2898648" y="297180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distance, phone</a:t>
            </a:r>
            <a:endParaRPr lang="en-US" sz="1300" dirty="0"/>
          </a:p>
        </p:txBody>
      </p:sp>
      <p:sp>
        <p:nvSpPr>
          <p:cNvPr id="26" name="Shape 23"/>
          <p:cNvSpPr/>
          <p:nvPr/>
        </p:nvSpPr>
        <p:spPr>
          <a:xfrm>
            <a:off x="2898648" y="3749040"/>
            <a:ext cx="1792224" cy="640080"/>
          </a:xfrm>
          <a:prstGeom prst="roundRect">
            <a:avLst>
              <a:gd name="adj" fmla="val 8571"/>
            </a:avLst>
          </a:prstGeom>
          <a:solidFill>
            <a:srgbClr val="E3F1F2"/>
          </a:solidFill>
          <a:ln w="12700">
            <a:solidFill>
              <a:srgbClr val="0D6B73"/>
            </a:solidFill>
            <a:prstDash val="solid"/>
          </a:ln>
        </p:spPr>
      </p:sp>
      <p:sp>
        <p:nvSpPr>
          <p:cNvPr id="27" name="Text 24"/>
          <p:cNvSpPr txBox="1"/>
          <p:nvPr/>
        </p:nvSpPr>
        <p:spPr>
          <a:xfrm>
            <a:off x="2898648" y="374904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directions link</a:t>
            </a:r>
            <a:endParaRPr lang="en-US" sz="1300" dirty="0"/>
          </a:p>
        </p:txBody>
      </p:sp>
      <p:sp>
        <p:nvSpPr>
          <p:cNvPr id="28" name="Shape 25"/>
          <p:cNvSpPr/>
          <p:nvPr/>
        </p:nvSpPr>
        <p:spPr>
          <a:xfrm>
            <a:off x="3063240" y="5230368"/>
            <a:ext cx="146304" cy="146304"/>
          </a:xfrm>
          <a:prstGeom prst="ellipse">
            <a:avLst/>
          </a:prstGeom>
          <a:solidFill>
            <a:srgbClr val="CFD8E0"/>
          </a:solidFill>
          <a:ln w="12700">
            <a:solidFill>
              <a:srgbClr val="CFD8E0"/>
            </a:solidFill>
            <a:prstDash val="solid"/>
          </a:ln>
        </p:spPr>
      </p:sp>
      <p:sp>
        <p:nvSpPr>
          <p:cNvPr id="29" name="Shape 26"/>
          <p:cNvSpPr/>
          <p:nvPr/>
        </p:nvSpPr>
        <p:spPr>
          <a:xfrm>
            <a:off x="3392424" y="5230368"/>
            <a:ext cx="146304" cy="146304"/>
          </a:xfrm>
          <a:prstGeom prst="ellipse">
            <a:avLst/>
          </a:prstGeom>
          <a:solidFill>
            <a:srgbClr val="0D6B73"/>
          </a:solidFill>
          <a:ln w="12700">
            <a:solidFill>
              <a:srgbClr val="0D6B73"/>
            </a:solidFill>
            <a:prstDash val="solid"/>
          </a:ln>
        </p:spPr>
      </p:sp>
      <p:sp>
        <p:nvSpPr>
          <p:cNvPr id="30" name="Shape 27"/>
          <p:cNvSpPr/>
          <p:nvPr/>
        </p:nvSpPr>
        <p:spPr>
          <a:xfrm>
            <a:off x="3721608" y="5230368"/>
            <a:ext cx="146304" cy="146304"/>
          </a:xfrm>
          <a:prstGeom prst="ellipse">
            <a:avLst/>
          </a:prstGeom>
          <a:solidFill>
            <a:srgbClr val="CFD8E0"/>
          </a:solidFill>
          <a:ln w="12700">
            <a:solidFill>
              <a:srgbClr val="CFD8E0"/>
            </a:solidFill>
            <a:prstDash val="solid"/>
          </a:ln>
        </p:spPr>
      </p:sp>
      <p:sp>
        <p:nvSpPr>
          <p:cNvPr id="31" name="Shape 28"/>
          <p:cNvSpPr/>
          <p:nvPr/>
        </p:nvSpPr>
        <p:spPr>
          <a:xfrm>
            <a:off x="4050792" y="5230368"/>
            <a:ext cx="146304" cy="146304"/>
          </a:xfrm>
          <a:prstGeom prst="ellipse">
            <a:avLst/>
          </a:prstGeom>
          <a:solidFill>
            <a:srgbClr val="CFD8E0"/>
          </a:solidFill>
          <a:ln w="12700">
            <a:solidFill>
              <a:srgbClr val="CFD8E0"/>
            </a:solidFill>
            <a:prstDash val="solid"/>
          </a:ln>
        </p:spPr>
      </p:sp>
      <p:sp>
        <p:nvSpPr>
          <p:cNvPr id="32" name="Shape 29"/>
          <p:cNvSpPr/>
          <p:nvPr/>
        </p:nvSpPr>
        <p:spPr>
          <a:xfrm>
            <a:off x="4379976" y="5230368"/>
            <a:ext cx="146304" cy="146304"/>
          </a:xfrm>
          <a:prstGeom prst="ellipse">
            <a:avLst/>
          </a:prstGeom>
          <a:solidFill>
            <a:srgbClr val="CFD8E0"/>
          </a:solidFill>
          <a:ln w="12700">
            <a:solidFill>
              <a:srgbClr val="CFD8E0"/>
            </a:solidFill>
            <a:prstDash val="solid"/>
          </a:ln>
        </p:spPr>
      </p:sp>
      <p:sp>
        <p:nvSpPr>
          <p:cNvPr id="33" name="Text 30"/>
          <p:cNvSpPr txBox="1"/>
          <p:nvPr/>
        </p:nvSpPr>
        <p:spPr>
          <a:xfrm>
            <a:off x="2788920" y="5715000"/>
            <a:ext cx="201168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nearest safe place</a:t>
            </a:r>
            <a:endParaRPr lang="en-US" sz="1400" dirty="0"/>
          </a:p>
        </p:txBody>
      </p:sp>
      <p:sp>
        <p:nvSpPr>
          <p:cNvPr id="34" name="Shape 31"/>
          <p:cNvSpPr/>
          <p:nvPr/>
        </p:nvSpPr>
        <p:spPr>
          <a:xfrm>
            <a:off x="5093208" y="1417320"/>
            <a:ext cx="2011680" cy="4160520"/>
          </a:xfrm>
          <a:prstGeom prst="roundRect">
            <a:avLst>
              <a:gd name="adj" fmla="val 10000"/>
            </a:avLst>
          </a:prstGeom>
          <a:solidFill>
            <a:srgbClr val="FFFFFF"/>
          </a:solidFill>
          <a:ln w="25400">
            <a:solidFill>
              <a:srgbClr val="0F2530"/>
            </a:solidFill>
            <a:prstDash val="solid"/>
          </a:ln>
          <a:effectLst>
            <a:outerShdw sx="100000" sy="100000" kx="0" ky="0" algn="bl" rotWithShape="0" blurRad="101600" dist="25400" dir="5400000">
              <a:srgbClr val="000000">
                <a:alpha val="12000"/>
              </a:srgbClr>
            </a:outerShdw>
          </a:effectLst>
        </p:spPr>
      </p:sp>
      <p:sp>
        <p:nvSpPr>
          <p:cNvPr id="35" name="Shape 32"/>
          <p:cNvSpPr/>
          <p:nvPr/>
        </p:nvSpPr>
        <p:spPr>
          <a:xfrm>
            <a:off x="5202936" y="1554480"/>
            <a:ext cx="1792224" cy="457200"/>
          </a:xfrm>
          <a:prstGeom prst="roundRect">
            <a:avLst>
              <a:gd name="adj" fmla="val 16000"/>
            </a:avLst>
          </a:prstGeom>
          <a:solidFill>
            <a:srgbClr val="0D6B73"/>
          </a:solidFill>
          <a:ln w="12700">
            <a:solidFill>
              <a:srgbClr val="0D6B73"/>
            </a:solidFill>
            <a:prstDash val="solid"/>
          </a:ln>
        </p:spPr>
      </p:sp>
      <p:sp>
        <p:nvSpPr>
          <p:cNvPr id="36" name="Text 33"/>
          <p:cNvSpPr txBox="1"/>
          <p:nvPr/>
        </p:nvSpPr>
        <p:spPr>
          <a:xfrm>
            <a:off x="5202936" y="1554480"/>
            <a:ext cx="1792224" cy="45720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SOS</a:t>
            </a:r>
            <a:endParaRPr lang="en-US" sz="1600" dirty="0"/>
          </a:p>
        </p:txBody>
      </p:sp>
      <p:sp>
        <p:nvSpPr>
          <p:cNvPr id="37" name="Shape 34"/>
          <p:cNvSpPr/>
          <p:nvPr/>
        </p:nvSpPr>
        <p:spPr>
          <a:xfrm>
            <a:off x="5202936" y="2194560"/>
            <a:ext cx="1792224" cy="640080"/>
          </a:xfrm>
          <a:prstGeom prst="roundRect">
            <a:avLst>
              <a:gd name="adj" fmla="val 8571"/>
            </a:avLst>
          </a:prstGeom>
          <a:solidFill>
            <a:srgbClr val="FBE9E2"/>
          </a:solidFill>
          <a:ln w="12700">
            <a:solidFill>
              <a:srgbClr val="C8401A"/>
            </a:solidFill>
            <a:prstDash val="solid"/>
          </a:ln>
        </p:spPr>
      </p:sp>
      <p:sp>
        <p:nvSpPr>
          <p:cNvPr id="38" name="Text 35"/>
          <p:cNvSpPr txBox="1"/>
          <p:nvPr/>
        </p:nvSpPr>
        <p:spPr>
          <a:xfrm>
            <a:off x="5202936" y="2194560"/>
            <a:ext cx="1792224" cy="640080"/>
          </a:xfrm>
          <a:prstGeom prst="rect">
            <a:avLst/>
          </a:prstGeom>
          <a:noFill/>
          <a:ln/>
        </p:spPr>
        <p:txBody>
          <a:bodyPr wrap="square" lIns="50800" tIns="50800" rIns="50800" bIns="50800" rtlCol="0" anchor="ctr"/>
          <a:lstStyle/>
          <a:p>
            <a:pPr algn="ctr" indent="0" marL="0">
              <a:buNone/>
            </a:pPr>
            <a:r>
              <a:rPr lang="en-US" sz="1300" b="1" dirty="0">
                <a:solidFill>
                  <a:srgbClr val="0F2530"/>
                </a:solidFill>
                <a:latin typeface="Calibri" pitchFamily="34" charset="0"/>
                <a:ea typeface="Calibri" pitchFamily="34" charset="-122"/>
                <a:cs typeface="Calibri" pitchFamily="34" charset="-120"/>
              </a:rPr>
              <a:t>CALL 112</a:t>
            </a:r>
            <a:endParaRPr lang="en-US" sz="1300" dirty="0"/>
          </a:p>
        </p:txBody>
      </p:sp>
      <p:sp>
        <p:nvSpPr>
          <p:cNvPr id="39" name="Shape 36"/>
          <p:cNvSpPr/>
          <p:nvPr/>
        </p:nvSpPr>
        <p:spPr>
          <a:xfrm>
            <a:off x="5202936" y="2971800"/>
            <a:ext cx="1792224" cy="640080"/>
          </a:xfrm>
          <a:prstGeom prst="roundRect">
            <a:avLst>
              <a:gd name="adj" fmla="val 8571"/>
            </a:avLst>
          </a:prstGeom>
          <a:solidFill>
            <a:srgbClr val="E3F1F2"/>
          </a:solidFill>
          <a:ln w="12700">
            <a:solidFill>
              <a:srgbClr val="0D6B73"/>
            </a:solidFill>
            <a:prstDash val="solid"/>
          </a:ln>
        </p:spPr>
      </p:sp>
      <p:sp>
        <p:nvSpPr>
          <p:cNvPr id="40" name="Text 37"/>
          <p:cNvSpPr txBox="1"/>
          <p:nvPr/>
        </p:nvSpPr>
        <p:spPr>
          <a:xfrm>
            <a:off x="5202936" y="297180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Police 100</a:t>
            </a:r>
            <a:endParaRPr lang="en-US" sz="1300" dirty="0"/>
          </a:p>
        </p:txBody>
      </p:sp>
      <p:sp>
        <p:nvSpPr>
          <p:cNvPr id="41" name="Shape 38"/>
          <p:cNvSpPr/>
          <p:nvPr/>
        </p:nvSpPr>
        <p:spPr>
          <a:xfrm>
            <a:off x="5202936" y="3749040"/>
            <a:ext cx="1792224" cy="640080"/>
          </a:xfrm>
          <a:prstGeom prst="roundRect">
            <a:avLst>
              <a:gd name="adj" fmla="val 8571"/>
            </a:avLst>
          </a:prstGeom>
          <a:solidFill>
            <a:srgbClr val="E3F1F2"/>
          </a:solidFill>
          <a:ln w="12700">
            <a:solidFill>
              <a:srgbClr val="0D6B73"/>
            </a:solidFill>
            <a:prstDash val="solid"/>
          </a:ln>
        </p:spPr>
      </p:sp>
      <p:sp>
        <p:nvSpPr>
          <p:cNvPr id="42" name="Text 39"/>
          <p:cNvSpPr txBox="1"/>
          <p:nvPr/>
        </p:nvSpPr>
        <p:spPr>
          <a:xfrm>
            <a:off x="5202936" y="374904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Fire 101</a:t>
            </a:r>
            <a:endParaRPr lang="en-US" sz="1300" dirty="0"/>
          </a:p>
        </p:txBody>
      </p:sp>
      <p:sp>
        <p:nvSpPr>
          <p:cNvPr id="43" name="Shape 40"/>
          <p:cNvSpPr/>
          <p:nvPr/>
        </p:nvSpPr>
        <p:spPr>
          <a:xfrm>
            <a:off x="5367528" y="5230368"/>
            <a:ext cx="146304" cy="146304"/>
          </a:xfrm>
          <a:prstGeom prst="ellipse">
            <a:avLst/>
          </a:prstGeom>
          <a:solidFill>
            <a:srgbClr val="CFD8E0"/>
          </a:solidFill>
          <a:ln w="12700">
            <a:solidFill>
              <a:srgbClr val="CFD8E0"/>
            </a:solidFill>
            <a:prstDash val="solid"/>
          </a:ln>
        </p:spPr>
      </p:sp>
      <p:sp>
        <p:nvSpPr>
          <p:cNvPr id="44" name="Shape 41"/>
          <p:cNvSpPr/>
          <p:nvPr/>
        </p:nvSpPr>
        <p:spPr>
          <a:xfrm>
            <a:off x="5696712" y="5230368"/>
            <a:ext cx="146304" cy="146304"/>
          </a:xfrm>
          <a:prstGeom prst="ellipse">
            <a:avLst/>
          </a:prstGeom>
          <a:solidFill>
            <a:srgbClr val="CFD8E0"/>
          </a:solidFill>
          <a:ln w="12700">
            <a:solidFill>
              <a:srgbClr val="CFD8E0"/>
            </a:solidFill>
            <a:prstDash val="solid"/>
          </a:ln>
        </p:spPr>
      </p:sp>
      <p:sp>
        <p:nvSpPr>
          <p:cNvPr id="45" name="Shape 42"/>
          <p:cNvSpPr/>
          <p:nvPr/>
        </p:nvSpPr>
        <p:spPr>
          <a:xfrm>
            <a:off x="6025896" y="5230368"/>
            <a:ext cx="146304" cy="146304"/>
          </a:xfrm>
          <a:prstGeom prst="ellipse">
            <a:avLst/>
          </a:prstGeom>
          <a:solidFill>
            <a:srgbClr val="0D6B73"/>
          </a:solidFill>
          <a:ln w="12700">
            <a:solidFill>
              <a:srgbClr val="0D6B73"/>
            </a:solidFill>
            <a:prstDash val="solid"/>
          </a:ln>
        </p:spPr>
      </p:sp>
      <p:sp>
        <p:nvSpPr>
          <p:cNvPr id="46" name="Shape 43"/>
          <p:cNvSpPr/>
          <p:nvPr/>
        </p:nvSpPr>
        <p:spPr>
          <a:xfrm>
            <a:off x="6355080" y="5230368"/>
            <a:ext cx="146304" cy="146304"/>
          </a:xfrm>
          <a:prstGeom prst="ellipse">
            <a:avLst/>
          </a:prstGeom>
          <a:solidFill>
            <a:srgbClr val="CFD8E0"/>
          </a:solidFill>
          <a:ln w="12700">
            <a:solidFill>
              <a:srgbClr val="CFD8E0"/>
            </a:solidFill>
            <a:prstDash val="solid"/>
          </a:ln>
        </p:spPr>
      </p:sp>
      <p:sp>
        <p:nvSpPr>
          <p:cNvPr id="47" name="Shape 44"/>
          <p:cNvSpPr/>
          <p:nvPr/>
        </p:nvSpPr>
        <p:spPr>
          <a:xfrm>
            <a:off x="6684264" y="5230368"/>
            <a:ext cx="146304" cy="146304"/>
          </a:xfrm>
          <a:prstGeom prst="ellipse">
            <a:avLst/>
          </a:prstGeom>
          <a:solidFill>
            <a:srgbClr val="CFD8E0"/>
          </a:solidFill>
          <a:ln w="12700">
            <a:solidFill>
              <a:srgbClr val="CFD8E0"/>
            </a:solidFill>
            <a:prstDash val="solid"/>
          </a:ln>
        </p:spPr>
      </p:sp>
      <p:sp>
        <p:nvSpPr>
          <p:cNvPr id="48" name="Text 45"/>
          <p:cNvSpPr txBox="1"/>
          <p:nvPr/>
        </p:nvSpPr>
        <p:spPr>
          <a:xfrm>
            <a:off x="5093208" y="5715000"/>
            <a:ext cx="201168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works offline</a:t>
            </a:r>
            <a:endParaRPr lang="en-US" sz="1400" dirty="0"/>
          </a:p>
        </p:txBody>
      </p:sp>
      <p:sp>
        <p:nvSpPr>
          <p:cNvPr id="49" name="Shape 46"/>
          <p:cNvSpPr/>
          <p:nvPr/>
        </p:nvSpPr>
        <p:spPr>
          <a:xfrm>
            <a:off x="7397496" y="1417320"/>
            <a:ext cx="2011680" cy="4160520"/>
          </a:xfrm>
          <a:prstGeom prst="roundRect">
            <a:avLst>
              <a:gd name="adj" fmla="val 10000"/>
            </a:avLst>
          </a:prstGeom>
          <a:solidFill>
            <a:srgbClr val="FFFFFF"/>
          </a:solidFill>
          <a:ln w="25400">
            <a:solidFill>
              <a:srgbClr val="0F2530"/>
            </a:solidFill>
            <a:prstDash val="solid"/>
          </a:ln>
          <a:effectLst>
            <a:outerShdw sx="100000" sy="100000" kx="0" ky="0" algn="bl" rotWithShape="0" blurRad="101600" dist="25400" dir="5400000">
              <a:srgbClr val="000000">
                <a:alpha val="12000"/>
              </a:srgbClr>
            </a:outerShdw>
          </a:effectLst>
        </p:spPr>
      </p:sp>
      <p:sp>
        <p:nvSpPr>
          <p:cNvPr id="50" name="Shape 47"/>
          <p:cNvSpPr/>
          <p:nvPr/>
        </p:nvSpPr>
        <p:spPr>
          <a:xfrm>
            <a:off x="7507224" y="1554480"/>
            <a:ext cx="1792224" cy="457200"/>
          </a:xfrm>
          <a:prstGeom prst="roundRect">
            <a:avLst>
              <a:gd name="adj" fmla="val 16000"/>
            </a:avLst>
          </a:prstGeom>
          <a:solidFill>
            <a:srgbClr val="0D6B73"/>
          </a:solidFill>
          <a:ln w="12700">
            <a:solidFill>
              <a:srgbClr val="0D6B73"/>
            </a:solidFill>
            <a:prstDash val="solid"/>
          </a:ln>
        </p:spPr>
      </p:sp>
      <p:sp>
        <p:nvSpPr>
          <p:cNvPr id="51" name="Text 48"/>
          <p:cNvSpPr txBox="1"/>
          <p:nvPr/>
        </p:nvSpPr>
        <p:spPr>
          <a:xfrm>
            <a:off x="7507224" y="1554480"/>
            <a:ext cx="1792224" cy="45720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Prediction</a:t>
            </a:r>
            <a:endParaRPr lang="en-US" sz="1600" dirty="0"/>
          </a:p>
        </p:txBody>
      </p:sp>
      <p:sp>
        <p:nvSpPr>
          <p:cNvPr id="52" name="Shape 49"/>
          <p:cNvSpPr/>
          <p:nvPr/>
        </p:nvSpPr>
        <p:spPr>
          <a:xfrm>
            <a:off x="7507224" y="2194560"/>
            <a:ext cx="1792224" cy="640080"/>
          </a:xfrm>
          <a:prstGeom prst="roundRect">
            <a:avLst>
              <a:gd name="adj" fmla="val 8571"/>
            </a:avLst>
          </a:prstGeom>
          <a:solidFill>
            <a:srgbClr val="E3F1F2"/>
          </a:solidFill>
          <a:ln w="12700">
            <a:solidFill>
              <a:srgbClr val="0D6B73"/>
            </a:solidFill>
            <a:prstDash val="solid"/>
          </a:ln>
        </p:spPr>
      </p:sp>
      <p:sp>
        <p:nvSpPr>
          <p:cNvPr id="53" name="Text 50"/>
          <p:cNvSpPr txBox="1"/>
          <p:nvPr/>
        </p:nvSpPr>
        <p:spPr>
          <a:xfrm>
            <a:off x="7507224" y="2194560"/>
            <a:ext cx="1792224" cy="640080"/>
          </a:xfrm>
          <a:prstGeom prst="rect">
            <a:avLst/>
          </a:prstGeom>
          <a:noFill/>
          <a:ln/>
        </p:spPr>
        <p:txBody>
          <a:bodyPr wrap="square" lIns="50800" tIns="50800" rIns="50800" bIns="50800" rtlCol="0" anchor="ctr"/>
          <a:lstStyle/>
          <a:p>
            <a:pPr algn="ctr" indent="0" marL="0">
              <a:buNone/>
            </a:pPr>
            <a:r>
              <a:rPr lang="en-US" sz="1300" b="1" dirty="0">
                <a:solidFill>
                  <a:srgbClr val="0F2530"/>
                </a:solidFill>
                <a:latin typeface="Calibri" pitchFamily="34" charset="0"/>
                <a:ea typeface="Calibri" pitchFamily="34" charset="-122"/>
                <a:cs typeface="Calibri" pitchFamily="34" charset="-120"/>
              </a:rPr>
              <a:t>Water chart</a:t>
            </a:r>
            <a:endParaRPr lang="en-US" sz="1300" dirty="0"/>
          </a:p>
        </p:txBody>
      </p:sp>
      <p:sp>
        <p:nvSpPr>
          <p:cNvPr id="54" name="Shape 51"/>
          <p:cNvSpPr/>
          <p:nvPr/>
        </p:nvSpPr>
        <p:spPr>
          <a:xfrm>
            <a:off x="7507224" y="2971800"/>
            <a:ext cx="1792224" cy="640080"/>
          </a:xfrm>
          <a:prstGeom prst="roundRect">
            <a:avLst>
              <a:gd name="adj" fmla="val 8571"/>
            </a:avLst>
          </a:prstGeom>
          <a:solidFill>
            <a:srgbClr val="E3F1F2"/>
          </a:solidFill>
          <a:ln w="12700">
            <a:solidFill>
              <a:srgbClr val="0D6B73"/>
            </a:solidFill>
            <a:prstDash val="solid"/>
          </a:ln>
        </p:spPr>
      </p:sp>
      <p:sp>
        <p:nvSpPr>
          <p:cNvPr id="55" name="Text 52"/>
          <p:cNvSpPr txBox="1"/>
          <p:nvPr/>
        </p:nvSpPr>
        <p:spPr>
          <a:xfrm>
            <a:off x="7507224" y="297180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Vibration chart</a:t>
            </a:r>
            <a:endParaRPr lang="en-US" sz="1300" dirty="0"/>
          </a:p>
        </p:txBody>
      </p:sp>
      <p:sp>
        <p:nvSpPr>
          <p:cNvPr id="56" name="Shape 53"/>
          <p:cNvSpPr/>
          <p:nvPr/>
        </p:nvSpPr>
        <p:spPr>
          <a:xfrm>
            <a:off x="7507224" y="3749040"/>
            <a:ext cx="1792224" cy="640080"/>
          </a:xfrm>
          <a:prstGeom prst="roundRect">
            <a:avLst>
              <a:gd name="adj" fmla="val 8571"/>
            </a:avLst>
          </a:prstGeom>
          <a:solidFill>
            <a:srgbClr val="E3F1F2"/>
          </a:solidFill>
          <a:ln w="12700">
            <a:solidFill>
              <a:srgbClr val="0D6B73"/>
            </a:solidFill>
            <a:prstDash val="solid"/>
          </a:ln>
        </p:spPr>
      </p:sp>
      <p:sp>
        <p:nvSpPr>
          <p:cNvPr id="57" name="Text 54"/>
          <p:cNvSpPr txBox="1"/>
          <p:nvPr/>
        </p:nvSpPr>
        <p:spPr>
          <a:xfrm>
            <a:off x="7507224" y="374904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Flood trend</a:t>
            </a:r>
            <a:endParaRPr lang="en-US" sz="1300" dirty="0"/>
          </a:p>
        </p:txBody>
      </p:sp>
      <p:sp>
        <p:nvSpPr>
          <p:cNvPr id="58" name="Shape 55"/>
          <p:cNvSpPr/>
          <p:nvPr/>
        </p:nvSpPr>
        <p:spPr>
          <a:xfrm>
            <a:off x="7671816" y="5230368"/>
            <a:ext cx="146304" cy="146304"/>
          </a:xfrm>
          <a:prstGeom prst="ellipse">
            <a:avLst/>
          </a:prstGeom>
          <a:solidFill>
            <a:srgbClr val="CFD8E0"/>
          </a:solidFill>
          <a:ln w="12700">
            <a:solidFill>
              <a:srgbClr val="CFD8E0"/>
            </a:solidFill>
            <a:prstDash val="solid"/>
          </a:ln>
        </p:spPr>
      </p:sp>
      <p:sp>
        <p:nvSpPr>
          <p:cNvPr id="59" name="Shape 56"/>
          <p:cNvSpPr/>
          <p:nvPr/>
        </p:nvSpPr>
        <p:spPr>
          <a:xfrm>
            <a:off x="8001000" y="5230368"/>
            <a:ext cx="146304" cy="146304"/>
          </a:xfrm>
          <a:prstGeom prst="ellipse">
            <a:avLst/>
          </a:prstGeom>
          <a:solidFill>
            <a:srgbClr val="CFD8E0"/>
          </a:solidFill>
          <a:ln w="12700">
            <a:solidFill>
              <a:srgbClr val="CFD8E0"/>
            </a:solidFill>
            <a:prstDash val="solid"/>
          </a:ln>
        </p:spPr>
      </p:sp>
      <p:sp>
        <p:nvSpPr>
          <p:cNvPr id="60" name="Shape 57"/>
          <p:cNvSpPr/>
          <p:nvPr/>
        </p:nvSpPr>
        <p:spPr>
          <a:xfrm>
            <a:off x="8330184" y="5230368"/>
            <a:ext cx="146304" cy="146304"/>
          </a:xfrm>
          <a:prstGeom prst="ellipse">
            <a:avLst/>
          </a:prstGeom>
          <a:solidFill>
            <a:srgbClr val="CFD8E0"/>
          </a:solidFill>
          <a:ln w="12700">
            <a:solidFill>
              <a:srgbClr val="CFD8E0"/>
            </a:solidFill>
            <a:prstDash val="solid"/>
          </a:ln>
        </p:spPr>
      </p:sp>
      <p:sp>
        <p:nvSpPr>
          <p:cNvPr id="61" name="Shape 58"/>
          <p:cNvSpPr/>
          <p:nvPr/>
        </p:nvSpPr>
        <p:spPr>
          <a:xfrm>
            <a:off x="8659368" y="5230368"/>
            <a:ext cx="146304" cy="146304"/>
          </a:xfrm>
          <a:prstGeom prst="ellipse">
            <a:avLst/>
          </a:prstGeom>
          <a:solidFill>
            <a:srgbClr val="0D6B73"/>
          </a:solidFill>
          <a:ln w="12700">
            <a:solidFill>
              <a:srgbClr val="0D6B73"/>
            </a:solidFill>
            <a:prstDash val="solid"/>
          </a:ln>
        </p:spPr>
      </p:sp>
      <p:sp>
        <p:nvSpPr>
          <p:cNvPr id="62" name="Shape 59"/>
          <p:cNvSpPr/>
          <p:nvPr/>
        </p:nvSpPr>
        <p:spPr>
          <a:xfrm>
            <a:off x="8988552" y="5230368"/>
            <a:ext cx="146304" cy="146304"/>
          </a:xfrm>
          <a:prstGeom prst="ellipse">
            <a:avLst/>
          </a:prstGeom>
          <a:solidFill>
            <a:srgbClr val="CFD8E0"/>
          </a:solidFill>
          <a:ln w="12700">
            <a:solidFill>
              <a:srgbClr val="CFD8E0"/>
            </a:solidFill>
            <a:prstDash val="solid"/>
          </a:ln>
        </p:spPr>
      </p:sp>
      <p:sp>
        <p:nvSpPr>
          <p:cNvPr id="63" name="Text 60"/>
          <p:cNvSpPr txBox="1"/>
          <p:nvPr/>
        </p:nvSpPr>
        <p:spPr>
          <a:xfrm>
            <a:off x="7397496" y="5715000"/>
            <a:ext cx="201168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trend charts</a:t>
            </a:r>
            <a:endParaRPr lang="en-US" sz="1400" dirty="0"/>
          </a:p>
        </p:txBody>
      </p:sp>
      <p:sp>
        <p:nvSpPr>
          <p:cNvPr id="64" name="Shape 61"/>
          <p:cNvSpPr/>
          <p:nvPr/>
        </p:nvSpPr>
        <p:spPr>
          <a:xfrm>
            <a:off x="9701784" y="1417320"/>
            <a:ext cx="2011680" cy="4160520"/>
          </a:xfrm>
          <a:prstGeom prst="roundRect">
            <a:avLst>
              <a:gd name="adj" fmla="val 10000"/>
            </a:avLst>
          </a:prstGeom>
          <a:solidFill>
            <a:srgbClr val="FFFFFF"/>
          </a:solidFill>
          <a:ln w="25400">
            <a:solidFill>
              <a:srgbClr val="0F2530"/>
            </a:solidFill>
            <a:prstDash val="solid"/>
          </a:ln>
          <a:effectLst>
            <a:outerShdw sx="100000" sy="100000" kx="0" ky="0" algn="bl" rotWithShape="0" blurRad="101600" dist="25400" dir="5400000">
              <a:srgbClr val="000000">
                <a:alpha val="12000"/>
              </a:srgbClr>
            </a:outerShdw>
          </a:effectLst>
        </p:spPr>
      </p:sp>
      <p:sp>
        <p:nvSpPr>
          <p:cNvPr id="65" name="Shape 62"/>
          <p:cNvSpPr/>
          <p:nvPr/>
        </p:nvSpPr>
        <p:spPr>
          <a:xfrm>
            <a:off x="9811512" y="1554480"/>
            <a:ext cx="1792224" cy="457200"/>
          </a:xfrm>
          <a:prstGeom prst="roundRect">
            <a:avLst>
              <a:gd name="adj" fmla="val 16000"/>
            </a:avLst>
          </a:prstGeom>
          <a:solidFill>
            <a:srgbClr val="0D6B73"/>
          </a:solidFill>
          <a:ln w="12700">
            <a:solidFill>
              <a:srgbClr val="0D6B73"/>
            </a:solidFill>
            <a:prstDash val="solid"/>
          </a:ln>
        </p:spPr>
      </p:sp>
      <p:sp>
        <p:nvSpPr>
          <p:cNvPr id="66" name="Text 63"/>
          <p:cNvSpPr txBox="1"/>
          <p:nvPr/>
        </p:nvSpPr>
        <p:spPr>
          <a:xfrm>
            <a:off x="9811512" y="1554480"/>
            <a:ext cx="1792224" cy="45720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Report</a:t>
            </a:r>
            <a:endParaRPr lang="en-US" sz="1600" dirty="0"/>
          </a:p>
        </p:txBody>
      </p:sp>
      <p:sp>
        <p:nvSpPr>
          <p:cNvPr id="67" name="Shape 64"/>
          <p:cNvSpPr/>
          <p:nvPr/>
        </p:nvSpPr>
        <p:spPr>
          <a:xfrm>
            <a:off x="9811512" y="2194560"/>
            <a:ext cx="1792224" cy="640080"/>
          </a:xfrm>
          <a:prstGeom prst="roundRect">
            <a:avLst>
              <a:gd name="adj" fmla="val 8571"/>
            </a:avLst>
          </a:prstGeom>
          <a:solidFill>
            <a:srgbClr val="E3F1F2"/>
          </a:solidFill>
          <a:ln w="12700">
            <a:solidFill>
              <a:srgbClr val="0D6B73"/>
            </a:solidFill>
            <a:prstDash val="solid"/>
          </a:ln>
        </p:spPr>
      </p:sp>
      <p:sp>
        <p:nvSpPr>
          <p:cNvPr id="68" name="Text 65"/>
          <p:cNvSpPr txBox="1"/>
          <p:nvPr/>
        </p:nvSpPr>
        <p:spPr>
          <a:xfrm>
            <a:off x="9811512" y="2194560"/>
            <a:ext cx="1792224" cy="640080"/>
          </a:xfrm>
          <a:prstGeom prst="rect">
            <a:avLst/>
          </a:prstGeom>
          <a:noFill/>
          <a:ln/>
        </p:spPr>
        <p:txBody>
          <a:bodyPr wrap="square" lIns="50800" tIns="50800" rIns="50800" bIns="50800" rtlCol="0" anchor="ctr"/>
          <a:lstStyle/>
          <a:p>
            <a:pPr algn="ctr" indent="0" marL="0">
              <a:buNone/>
            </a:pPr>
            <a:r>
              <a:rPr lang="en-US" sz="1300" b="1" dirty="0">
                <a:solidFill>
                  <a:srgbClr val="0F2530"/>
                </a:solidFill>
                <a:latin typeface="Calibri" pitchFamily="34" charset="0"/>
                <a:ea typeface="Calibri" pitchFamily="34" charset="-122"/>
                <a:cs typeface="Calibri" pitchFamily="34" charset="-120"/>
              </a:rPr>
              <a:t>Alert 1</a:t>
            </a:r>
            <a:endParaRPr lang="en-US" sz="1300" dirty="0"/>
          </a:p>
        </p:txBody>
      </p:sp>
      <p:sp>
        <p:nvSpPr>
          <p:cNvPr id="69" name="Shape 66"/>
          <p:cNvSpPr/>
          <p:nvPr/>
        </p:nvSpPr>
        <p:spPr>
          <a:xfrm>
            <a:off x="9811512" y="2971800"/>
            <a:ext cx="1792224" cy="640080"/>
          </a:xfrm>
          <a:prstGeom prst="roundRect">
            <a:avLst>
              <a:gd name="adj" fmla="val 8571"/>
            </a:avLst>
          </a:prstGeom>
          <a:solidFill>
            <a:srgbClr val="E3F1F2"/>
          </a:solidFill>
          <a:ln w="12700">
            <a:solidFill>
              <a:srgbClr val="0D6B73"/>
            </a:solidFill>
            <a:prstDash val="solid"/>
          </a:ln>
        </p:spPr>
      </p:sp>
      <p:sp>
        <p:nvSpPr>
          <p:cNvPr id="70" name="Text 67"/>
          <p:cNvSpPr txBox="1"/>
          <p:nvPr/>
        </p:nvSpPr>
        <p:spPr>
          <a:xfrm>
            <a:off x="9811512" y="297180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Alert 2</a:t>
            </a:r>
            <a:endParaRPr lang="en-US" sz="1300" dirty="0"/>
          </a:p>
        </p:txBody>
      </p:sp>
      <p:sp>
        <p:nvSpPr>
          <p:cNvPr id="71" name="Shape 68"/>
          <p:cNvSpPr/>
          <p:nvPr/>
        </p:nvSpPr>
        <p:spPr>
          <a:xfrm>
            <a:off x="9811512" y="3749040"/>
            <a:ext cx="1792224" cy="640080"/>
          </a:xfrm>
          <a:prstGeom prst="roundRect">
            <a:avLst>
              <a:gd name="adj" fmla="val 8571"/>
            </a:avLst>
          </a:prstGeom>
          <a:solidFill>
            <a:srgbClr val="E3F1F2"/>
          </a:solidFill>
          <a:ln w="12700">
            <a:solidFill>
              <a:srgbClr val="0D6B73"/>
            </a:solidFill>
            <a:prstDash val="solid"/>
          </a:ln>
        </p:spPr>
      </p:sp>
      <p:sp>
        <p:nvSpPr>
          <p:cNvPr id="72" name="Text 69"/>
          <p:cNvSpPr txBox="1"/>
          <p:nvPr/>
        </p:nvSpPr>
        <p:spPr>
          <a:xfrm>
            <a:off x="9811512" y="3749040"/>
            <a:ext cx="1792224" cy="640080"/>
          </a:xfrm>
          <a:prstGeom prst="rect">
            <a:avLst/>
          </a:prstGeom>
          <a:noFill/>
          <a:ln/>
        </p:spPr>
        <p:txBody>
          <a:bodyPr wrap="square" lIns="50800" tIns="50800" rIns="50800" bIns="50800" rtlCol="0" anchor="ctr"/>
          <a:lstStyle/>
          <a:p>
            <a:pPr algn="ctr" indent="0" marL="0">
              <a:buNone/>
            </a:pPr>
            <a:r>
              <a:rPr lang="en-US" sz="1300" dirty="0">
                <a:solidFill>
                  <a:srgbClr val="0F2530"/>
                </a:solidFill>
                <a:latin typeface="Calibri" pitchFamily="34" charset="0"/>
                <a:ea typeface="Calibri" pitchFamily="34" charset="-122"/>
                <a:cs typeface="Calibri" pitchFamily="34" charset="-120"/>
              </a:rPr>
              <a:t>Alert 3</a:t>
            </a:r>
            <a:endParaRPr lang="en-US" sz="1300" dirty="0"/>
          </a:p>
        </p:txBody>
      </p:sp>
      <p:sp>
        <p:nvSpPr>
          <p:cNvPr id="73" name="Shape 70"/>
          <p:cNvSpPr/>
          <p:nvPr/>
        </p:nvSpPr>
        <p:spPr>
          <a:xfrm>
            <a:off x="9976104" y="5230368"/>
            <a:ext cx="146304" cy="146304"/>
          </a:xfrm>
          <a:prstGeom prst="ellipse">
            <a:avLst/>
          </a:prstGeom>
          <a:solidFill>
            <a:srgbClr val="CFD8E0"/>
          </a:solidFill>
          <a:ln w="12700">
            <a:solidFill>
              <a:srgbClr val="CFD8E0"/>
            </a:solidFill>
            <a:prstDash val="solid"/>
          </a:ln>
        </p:spPr>
      </p:sp>
      <p:sp>
        <p:nvSpPr>
          <p:cNvPr id="74" name="Shape 71"/>
          <p:cNvSpPr/>
          <p:nvPr/>
        </p:nvSpPr>
        <p:spPr>
          <a:xfrm>
            <a:off x="10305288" y="5230368"/>
            <a:ext cx="146304" cy="146304"/>
          </a:xfrm>
          <a:prstGeom prst="ellipse">
            <a:avLst/>
          </a:prstGeom>
          <a:solidFill>
            <a:srgbClr val="CFD8E0"/>
          </a:solidFill>
          <a:ln w="12700">
            <a:solidFill>
              <a:srgbClr val="CFD8E0"/>
            </a:solidFill>
            <a:prstDash val="solid"/>
          </a:ln>
        </p:spPr>
      </p:sp>
      <p:sp>
        <p:nvSpPr>
          <p:cNvPr id="75" name="Shape 72"/>
          <p:cNvSpPr/>
          <p:nvPr/>
        </p:nvSpPr>
        <p:spPr>
          <a:xfrm>
            <a:off x="10634472" y="5230368"/>
            <a:ext cx="146304" cy="146304"/>
          </a:xfrm>
          <a:prstGeom prst="ellipse">
            <a:avLst/>
          </a:prstGeom>
          <a:solidFill>
            <a:srgbClr val="CFD8E0"/>
          </a:solidFill>
          <a:ln w="12700">
            <a:solidFill>
              <a:srgbClr val="CFD8E0"/>
            </a:solidFill>
            <a:prstDash val="solid"/>
          </a:ln>
        </p:spPr>
      </p:sp>
      <p:sp>
        <p:nvSpPr>
          <p:cNvPr id="76" name="Shape 73"/>
          <p:cNvSpPr/>
          <p:nvPr/>
        </p:nvSpPr>
        <p:spPr>
          <a:xfrm>
            <a:off x="10963656" y="5230368"/>
            <a:ext cx="146304" cy="146304"/>
          </a:xfrm>
          <a:prstGeom prst="ellipse">
            <a:avLst/>
          </a:prstGeom>
          <a:solidFill>
            <a:srgbClr val="CFD8E0"/>
          </a:solidFill>
          <a:ln w="12700">
            <a:solidFill>
              <a:srgbClr val="CFD8E0"/>
            </a:solidFill>
            <a:prstDash val="solid"/>
          </a:ln>
        </p:spPr>
      </p:sp>
      <p:sp>
        <p:nvSpPr>
          <p:cNvPr id="77" name="Shape 74"/>
          <p:cNvSpPr/>
          <p:nvPr/>
        </p:nvSpPr>
        <p:spPr>
          <a:xfrm>
            <a:off x="11292840" y="5230368"/>
            <a:ext cx="146304" cy="146304"/>
          </a:xfrm>
          <a:prstGeom prst="ellipse">
            <a:avLst/>
          </a:prstGeom>
          <a:solidFill>
            <a:srgbClr val="0D6B73"/>
          </a:solidFill>
          <a:ln w="12700">
            <a:solidFill>
              <a:srgbClr val="0D6B73"/>
            </a:solidFill>
            <a:prstDash val="solid"/>
          </a:ln>
        </p:spPr>
      </p:sp>
      <p:sp>
        <p:nvSpPr>
          <p:cNvPr id="78" name="Text 75"/>
          <p:cNvSpPr txBox="1"/>
          <p:nvPr/>
        </p:nvSpPr>
        <p:spPr>
          <a:xfrm>
            <a:off x="9701784" y="5715000"/>
            <a:ext cx="2011680" cy="365760"/>
          </a:xfrm>
          <a:prstGeom prst="rect">
            <a:avLst/>
          </a:prstGeom>
          <a:noFill/>
          <a:ln/>
        </p:spPr>
        <p:txBody>
          <a:bodyPr wrap="square" lIns="50800" tIns="50800" rIns="50800" bIns="50800" rtlCol="0" anchor="t"/>
          <a:lstStyle/>
          <a:p>
            <a:pPr algn="ctr" indent="0" marL="0">
              <a:buNone/>
            </a:pPr>
            <a:r>
              <a:rPr lang="en-US" sz="1400" dirty="0">
                <a:solidFill>
                  <a:srgbClr val="4A5B69"/>
                </a:solidFill>
                <a:latin typeface="Calibri" pitchFamily="34" charset="0"/>
                <a:ea typeface="Calibri" pitchFamily="34" charset="-122"/>
                <a:cs typeface="Calibri" pitchFamily="34" charset="-120"/>
              </a:rPr>
              <a:t>alert history</a:t>
            </a:r>
            <a:endParaRPr lang="en-US" sz="1400" dirty="0"/>
          </a:p>
        </p:txBody>
      </p:sp>
      <p:sp>
        <p:nvSpPr>
          <p:cNvPr id="79" name="Text 76"/>
          <p:cNvSpPr txBox="1"/>
          <p:nvPr/>
        </p:nvSpPr>
        <p:spPr>
          <a:xfrm>
            <a:off x="548640" y="6217920"/>
            <a:ext cx="10972800" cy="365760"/>
          </a:xfrm>
          <a:prstGeom prst="rect">
            <a:avLst/>
          </a:prstGeom>
          <a:noFill/>
          <a:ln/>
        </p:spPr>
        <p:txBody>
          <a:bodyPr wrap="square" lIns="50800" tIns="50800" rIns="50800" bIns="50800" rtlCol="0" anchor="t"/>
          <a:lstStyle/>
          <a:p>
            <a:pPr algn="l" indent="0" marL="0">
              <a:buNone/>
            </a:pPr>
            <a:r>
              <a:rPr lang="en-US" sz="1400" i="1" dirty="0">
                <a:solidFill>
                  <a:srgbClr val="4A5B69"/>
                </a:solidFill>
                <a:latin typeface="Calibri" pitchFamily="34" charset="0"/>
                <a:ea typeface="Calibri" pitchFamily="34" charset="-122"/>
                <a:cs typeface="Calibri" pitchFamily="34" charset="-120"/>
              </a:rPr>
              <a:t>Plain HTML, CSS and JavaScript: nothing to build, works from the zip.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Every tool has a reason</a:t>
            </a:r>
            <a:endParaRPr lang="en-US" sz="3400" dirty="0"/>
          </a:p>
        </p:txBody>
      </p:sp>
      <p:sp>
        <p:nvSpPr>
          <p:cNvPr id="4" name="Shape 1"/>
          <p:cNvSpPr/>
          <p:nvPr/>
        </p:nvSpPr>
        <p:spPr>
          <a:xfrm>
            <a:off x="457200" y="14630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640080" y="16002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Python</a:t>
            </a:r>
            <a:endParaRPr lang="en-US" sz="1900" dirty="0"/>
          </a:p>
        </p:txBody>
      </p:sp>
      <p:sp>
        <p:nvSpPr>
          <p:cNvPr id="6" name="Text 3"/>
          <p:cNvSpPr txBox="1"/>
          <p:nvPr/>
        </p:nvSpPr>
        <p:spPr>
          <a:xfrm>
            <a:off x="640080" y="21031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readable, runs on a laptop or a Raspberry Pi</a:t>
            </a:r>
            <a:endParaRPr lang="en-US" sz="1400" dirty="0"/>
          </a:p>
        </p:txBody>
      </p:sp>
      <p:sp>
        <p:nvSpPr>
          <p:cNvPr id="7" name="Shape 4"/>
          <p:cNvSpPr/>
          <p:nvPr/>
        </p:nvSpPr>
        <p:spPr>
          <a:xfrm>
            <a:off x="3337560" y="14630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3520440" y="16002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FastAPI</a:t>
            </a:r>
            <a:endParaRPr lang="en-US" sz="1900" dirty="0"/>
          </a:p>
        </p:txBody>
      </p:sp>
      <p:sp>
        <p:nvSpPr>
          <p:cNvPr id="9" name="Text 6"/>
          <p:cNvSpPr txBox="1"/>
          <p:nvPr/>
        </p:nvSpPr>
        <p:spPr>
          <a:xfrm>
            <a:off x="3520440" y="21031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fast, checks inputs automatically</a:t>
            </a:r>
            <a:endParaRPr lang="en-US" sz="1400" dirty="0"/>
          </a:p>
        </p:txBody>
      </p:sp>
      <p:sp>
        <p:nvSpPr>
          <p:cNvPr id="10" name="Shape 7"/>
          <p:cNvSpPr/>
          <p:nvPr/>
        </p:nvSpPr>
        <p:spPr>
          <a:xfrm>
            <a:off x="6217920" y="14630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400800" y="16002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LangGraph</a:t>
            </a:r>
            <a:endParaRPr lang="en-US" sz="1900" dirty="0"/>
          </a:p>
        </p:txBody>
      </p:sp>
      <p:sp>
        <p:nvSpPr>
          <p:cNvPr id="12" name="Text 9"/>
          <p:cNvSpPr txBox="1"/>
          <p:nvPr/>
        </p:nvSpPr>
        <p:spPr>
          <a:xfrm>
            <a:off x="6400800" y="21031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runs the detectors as a graph of steps</a:t>
            </a:r>
            <a:endParaRPr lang="en-US" sz="1400" dirty="0"/>
          </a:p>
        </p:txBody>
      </p:sp>
      <p:sp>
        <p:nvSpPr>
          <p:cNvPr id="13" name="Shape 10"/>
          <p:cNvSpPr/>
          <p:nvPr/>
        </p:nvSpPr>
        <p:spPr>
          <a:xfrm>
            <a:off x="9098280" y="14630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9281160" y="16002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SQLite</a:t>
            </a:r>
            <a:endParaRPr lang="en-US" sz="1900" dirty="0"/>
          </a:p>
        </p:txBody>
      </p:sp>
      <p:sp>
        <p:nvSpPr>
          <p:cNvPr id="15" name="Text 12"/>
          <p:cNvSpPr txBox="1"/>
          <p:nvPr/>
        </p:nvSpPr>
        <p:spPr>
          <a:xfrm>
            <a:off x="9281160" y="21031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a whole database in one file</a:t>
            </a:r>
            <a:endParaRPr lang="en-US" sz="1400" dirty="0"/>
          </a:p>
        </p:txBody>
      </p:sp>
      <p:sp>
        <p:nvSpPr>
          <p:cNvPr id="16" name="Shape 13"/>
          <p:cNvSpPr/>
          <p:nvPr/>
        </p:nvSpPr>
        <p:spPr>
          <a:xfrm>
            <a:off x="457200" y="30632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7" name="Text 14"/>
          <p:cNvSpPr txBox="1"/>
          <p:nvPr/>
        </p:nvSpPr>
        <p:spPr>
          <a:xfrm>
            <a:off x="640080" y="32004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STA/LTA</a:t>
            </a:r>
            <a:endParaRPr lang="en-US" sz="1900" dirty="0"/>
          </a:p>
        </p:txBody>
      </p:sp>
      <p:sp>
        <p:nvSpPr>
          <p:cNvPr id="18" name="Text 15"/>
          <p:cNvSpPr txBox="1"/>
          <p:nvPr/>
        </p:nvSpPr>
        <p:spPr>
          <a:xfrm>
            <a:off x="640080" y="37033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adapts to how noisy a place is</a:t>
            </a:r>
            <a:endParaRPr lang="en-US" sz="1400" dirty="0"/>
          </a:p>
        </p:txBody>
      </p:sp>
      <p:sp>
        <p:nvSpPr>
          <p:cNvPr id="19" name="Shape 16"/>
          <p:cNvSpPr/>
          <p:nvPr/>
        </p:nvSpPr>
        <p:spPr>
          <a:xfrm>
            <a:off x="3337560" y="30632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0" name="Text 17"/>
          <p:cNvSpPr txBox="1"/>
          <p:nvPr/>
        </p:nvSpPr>
        <p:spPr>
          <a:xfrm>
            <a:off x="3520440" y="32004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Open-Meteo</a:t>
            </a:r>
            <a:endParaRPr lang="en-US" sz="1900" dirty="0"/>
          </a:p>
        </p:txBody>
      </p:sp>
      <p:sp>
        <p:nvSpPr>
          <p:cNvPr id="21" name="Text 18"/>
          <p:cNvSpPr txBox="1"/>
          <p:nvPr/>
        </p:nvSpPr>
        <p:spPr>
          <a:xfrm>
            <a:off x="3520440" y="37033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free weather, no API key</a:t>
            </a:r>
            <a:endParaRPr lang="en-US" sz="1400" dirty="0"/>
          </a:p>
        </p:txBody>
      </p:sp>
      <p:sp>
        <p:nvSpPr>
          <p:cNvPr id="22" name="Shape 19"/>
          <p:cNvSpPr/>
          <p:nvPr/>
        </p:nvSpPr>
        <p:spPr>
          <a:xfrm>
            <a:off x="6217920" y="30632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3" name="Text 20"/>
          <p:cNvSpPr txBox="1"/>
          <p:nvPr/>
        </p:nvSpPr>
        <p:spPr>
          <a:xfrm>
            <a:off x="6400800" y="32004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OpenStreetMap</a:t>
            </a:r>
            <a:endParaRPr lang="en-US" sz="1900" dirty="0"/>
          </a:p>
        </p:txBody>
      </p:sp>
      <p:sp>
        <p:nvSpPr>
          <p:cNvPr id="24" name="Text 21"/>
          <p:cNvSpPr txBox="1"/>
          <p:nvPr/>
        </p:nvSpPr>
        <p:spPr>
          <a:xfrm>
            <a:off x="6400800" y="37033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free shelter and hospital data</a:t>
            </a:r>
            <a:endParaRPr lang="en-US" sz="1400" dirty="0"/>
          </a:p>
        </p:txBody>
      </p:sp>
      <p:sp>
        <p:nvSpPr>
          <p:cNvPr id="25" name="Shape 22"/>
          <p:cNvSpPr/>
          <p:nvPr/>
        </p:nvSpPr>
        <p:spPr>
          <a:xfrm>
            <a:off x="9098280" y="30632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6" name="Text 23"/>
          <p:cNvSpPr txBox="1"/>
          <p:nvPr/>
        </p:nvSpPr>
        <p:spPr>
          <a:xfrm>
            <a:off x="9281160" y="32004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Groq</a:t>
            </a:r>
            <a:endParaRPr lang="en-US" sz="1900" dirty="0"/>
          </a:p>
        </p:txBody>
      </p:sp>
      <p:sp>
        <p:nvSpPr>
          <p:cNvPr id="27" name="Text 24"/>
          <p:cNvSpPr txBox="1"/>
          <p:nvPr/>
        </p:nvSpPr>
        <p:spPr>
          <a:xfrm>
            <a:off x="9281160" y="37033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optional friendly sentence only</a:t>
            </a:r>
            <a:endParaRPr lang="en-US" sz="1400" dirty="0"/>
          </a:p>
        </p:txBody>
      </p:sp>
      <p:sp>
        <p:nvSpPr>
          <p:cNvPr id="28" name="Shape 25"/>
          <p:cNvSpPr/>
          <p:nvPr/>
        </p:nvSpPr>
        <p:spPr>
          <a:xfrm>
            <a:off x="457200" y="46634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29" name="Text 26"/>
          <p:cNvSpPr txBox="1"/>
          <p:nvPr/>
        </p:nvSpPr>
        <p:spPr>
          <a:xfrm>
            <a:off x="640080" y="48006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python-dotenv</a:t>
            </a:r>
            <a:endParaRPr lang="en-US" sz="1900" dirty="0"/>
          </a:p>
        </p:txBody>
      </p:sp>
      <p:sp>
        <p:nvSpPr>
          <p:cNvPr id="30" name="Text 27"/>
          <p:cNvSpPr txBox="1"/>
          <p:nvPr/>
        </p:nvSpPr>
        <p:spPr>
          <a:xfrm>
            <a:off x="640080" y="53035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keeps secret keys out of the code</a:t>
            </a:r>
            <a:endParaRPr lang="en-US" sz="1400" dirty="0"/>
          </a:p>
        </p:txBody>
      </p:sp>
      <p:sp>
        <p:nvSpPr>
          <p:cNvPr id="31" name="Shape 28"/>
          <p:cNvSpPr/>
          <p:nvPr/>
        </p:nvSpPr>
        <p:spPr>
          <a:xfrm>
            <a:off x="3337560" y="46634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32" name="Text 29"/>
          <p:cNvSpPr txBox="1"/>
          <p:nvPr/>
        </p:nvSpPr>
        <p:spPr>
          <a:xfrm>
            <a:off x="3520440" y="48006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GitHub Actions</a:t>
            </a:r>
            <a:endParaRPr lang="en-US" sz="1900" dirty="0"/>
          </a:p>
        </p:txBody>
      </p:sp>
      <p:sp>
        <p:nvSpPr>
          <p:cNvPr id="33" name="Text 30"/>
          <p:cNvSpPr txBox="1"/>
          <p:nvPr/>
        </p:nvSpPr>
        <p:spPr>
          <a:xfrm>
            <a:off x="3520440" y="53035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re-runs the checks on every push</a:t>
            </a:r>
            <a:endParaRPr lang="en-US" sz="1400" dirty="0"/>
          </a:p>
        </p:txBody>
      </p:sp>
      <p:sp>
        <p:nvSpPr>
          <p:cNvPr id="34" name="Shape 31"/>
          <p:cNvSpPr/>
          <p:nvPr/>
        </p:nvSpPr>
        <p:spPr>
          <a:xfrm>
            <a:off x="6217920" y="46634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35" name="Text 32"/>
          <p:cNvSpPr txBox="1"/>
          <p:nvPr/>
        </p:nvSpPr>
        <p:spPr>
          <a:xfrm>
            <a:off x="6400800" y="48006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Vanilla JS</a:t>
            </a:r>
            <a:endParaRPr lang="en-US" sz="1900" dirty="0"/>
          </a:p>
        </p:txBody>
      </p:sp>
      <p:sp>
        <p:nvSpPr>
          <p:cNvPr id="36" name="Text 33"/>
          <p:cNvSpPr txBox="1"/>
          <p:nvPr/>
        </p:nvSpPr>
        <p:spPr>
          <a:xfrm>
            <a:off x="6400800" y="53035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no framework, no build step</a:t>
            </a:r>
            <a:endParaRPr lang="en-US" sz="1400" dirty="0"/>
          </a:p>
        </p:txBody>
      </p:sp>
      <p:sp>
        <p:nvSpPr>
          <p:cNvPr id="37" name="Shape 34"/>
          <p:cNvSpPr/>
          <p:nvPr/>
        </p:nvSpPr>
        <p:spPr>
          <a:xfrm>
            <a:off x="9098280" y="4663440"/>
            <a:ext cx="2651760" cy="1371600"/>
          </a:xfrm>
          <a:prstGeom prst="roundRect">
            <a:avLst>
              <a:gd name="adj" fmla="val 8000"/>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38" name="Text 35"/>
          <p:cNvSpPr txBox="1"/>
          <p:nvPr/>
        </p:nvSpPr>
        <p:spPr>
          <a:xfrm>
            <a:off x="9281160" y="4800600"/>
            <a:ext cx="2286000" cy="457200"/>
          </a:xfrm>
          <a:prstGeom prst="rect">
            <a:avLst/>
          </a:prstGeom>
          <a:noFill/>
          <a:ln/>
        </p:spPr>
        <p:txBody>
          <a:bodyPr wrap="square" lIns="50800" tIns="50800" rIns="50800" bIns="50800" rtlCol="0" anchor="t"/>
          <a:lstStyle/>
          <a:p>
            <a:pPr algn="l" indent="0" marL="0">
              <a:buNone/>
            </a:pPr>
            <a:r>
              <a:rPr lang="en-US" sz="1900" b="1" dirty="0">
                <a:solidFill>
                  <a:srgbClr val="0D6B73"/>
                </a:solidFill>
                <a:latin typeface="Cambria" pitchFamily="34" charset="0"/>
                <a:ea typeface="Cambria" pitchFamily="34" charset="-122"/>
                <a:cs typeface="Cambria" pitchFamily="34" charset="-120"/>
              </a:rPr>
              <a:t>Embedded Python</a:t>
            </a:r>
            <a:endParaRPr lang="en-US" sz="1900" dirty="0"/>
          </a:p>
        </p:txBody>
      </p:sp>
      <p:sp>
        <p:nvSpPr>
          <p:cNvPr id="39" name="Text 36"/>
          <p:cNvSpPr txBox="1"/>
          <p:nvPr/>
        </p:nvSpPr>
        <p:spPr>
          <a:xfrm>
            <a:off x="9281160" y="5303520"/>
            <a:ext cx="2286000" cy="640080"/>
          </a:xfrm>
          <a:prstGeom prst="rect">
            <a:avLst/>
          </a:prstGeom>
          <a:noFill/>
          <a:ln/>
        </p:spPr>
        <p:txBody>
          <a:bodyPr wrap="square" lIns="50800" tIns="50800" rIns="50800" bIns="50800" rtlCol="0" anchor="t"/>
          <a:lstStyle/>
          <a:p>
            <a:pPr algn="l" indent="0" marL="0">
              <a:buNone/>
            </a:pPr>
            <a:r>
              <a:rPr lang="en-US" sz="1400" dirty="0">
                <a:solidFill>
                  <a:srgbClr val="4A5B69"/>
                </a:solidFill>
                <a:latin typeface="Calibri" pitchFamily="34" charset="0"/>
                <a:ea typeface="Calibri" pitchFamily="34" charset="-122"/>
                <a:cs typeface="Calibri" pitchFamily="34" charset="-120"/>
              </a:rPr>
              <a:t>zip runs with nothing installed</a:t>
            </a:r>
            <a:endParaRPr lang="en-US" sz="1400" dirty="0"/>
          </a:p>
        </p:txBody>
      </p:sp>
      <p:sp>
        <p:nvSpPr>
          <p:cNvPr id="40" name="Text 37"/>
          <p:cNvSpPr txBox="1"/>
          <p:nvPr/>
        </p:nvSpPr>
        <p:spPr>
          <a:xfrm>
            <a:off x="548640" y="6355080"/>
            <a:ext cx="7315200" cy="365760"/>
          </a:xfrm>
          <a:prstGeom prst="rect">
            <a:avLst/>
          </a:prstGeom>
          <a:noFill/>
          <a:ln/>
        </p:spPr>
        <p:txBody>
          <a:bodyPr wrap="square" lIns="50800" tIns="50800" rIns="50800" bIns="50800" rtlCol="0" anchor="t"/>
          <a:lstStyle/>
          <a:p>
            <a:pPr algn="l" indent="0" marL="0">
              <a:buNone/>
            </a:pPr>
            <a:r>
              <a:rPr lang="en-US" sz="1200" dirty="0">
                <a:solidFill>
                  <a:srgbClr val="4A5B69"/>
                </a:solidFill>
                <a:latin typeface="Calibri" pitchFamily="34" charset="0"/>
                <a:ea typeface="Calibri" pitchFamily="34" charset="-122"/>
                <a:cs typeface="Calibri" pitchFamily="34" charset="-120"/>
              </a:rPr>
              <a:t>The full A–Z list is in the report, chapter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Send one zip. Double-click. Done.</a:t>
            </a:r>
            <a:endParaRPr lang="en-US" sz="3400" dirty="0"/>
          </a:p>
        </p:txBody>
      </p:sp>
      <p:sp>
        <p:nvSpPr>
          <p:cNvPr id="4" name="Shape 1"/>
          <p:cNvSpPr/>
          <p:nvPr/>
        </p:nvSpPr>
        <p:spPr>
          <a:xfrm>
            <a:off x="548640" y="1554480"/>
            <a:ext cx="6949440" cy="1234440"/>
          </a:xfrm>
          <a:prstGeom prst="roundRect">
            <a:avLst>
              <a:gd name="adj" fmla="val 8889"/>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777240" y="1828800"/>
            <a:ext cx="685800" cy="685800"/>
          </a:xfrm>
          <a:prstGeom prst="ellipse">
            <a:avLst/>
          </a:prstGeom>
          <a:solidFill>
            <a:srgbClr val="0D6B73"/>
          </a:solidFill>
          <a:ln w="12700">
            <a:solidFill>
              <a:srgbClr val="0D6B73"/>
            </a:solidFill>
            <a:prstDash val="solid"/>
          </a:ln>
        </p:spPr>
      </p:sp>
      <p:sp>
        <p:nvSpPr>
          <p:cNvPr id="6" name="Text 3"/>
          <p:cNvSpPr txBox="1"/>
          <p:nvPr/>
        </p:nvSpPr>
        <p:spPr>
          <a:xfrm>
            <a:off x="777240" y="1828800"/>
            <a:ext cx="685800" cy="68580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1691640" y="1719072"/>
            <a:ext cx="5577840" cy="502920"/>
          </a:xfrm>
          <a:prstGeom prst="rect">
            <a:avLst/>
          </a:prstGeom>
          <a:noFill/>
          <a:ln/>
        </p:spPr>
        <p:txBody>
          <a:bodyPr wrap="square" lIns="50800" tIns="50800" rIns="50800" bIns="50800" rtlCol="0" anchor="t"/>
          <a:lstStyle/>
          <a:p>
            <a:pPr algn="l" indent="0" marL="0">
              <a:buNone/>
            </a:pPr>
            <a:r>
              <a:rPr lang="en-US" sz="2200" b="1" dirty="0">
                <a:solidFill>
                  <a:srgbClr val="0F2530"/>
                </a:solidFill>
                <a:latin typeface="Cambria" pitchFamily="34" charset="0"/>
                <a:ea typeface="Cambria" pitchFamily="34" charset="-122"/>
                <a:cs typeface="Cambria" pitchFamily="34" charset="-120"/>
              </a:rPr>
              <a:t>Unzip</a:t>
            </a:r>
            <a:endParaRPr lang="en-US" sz="2200" dirty="0"/>
          </a:p>
        </p:txBody>
      </p:sp>
      <p:sp>
        <p:nvSpPr>
          <p:cNvPr id="8" name="Text 5"/>
          <p:cNvSpPr txBox="1"/>
          <p:nvPr/>
        </p:nvSpPr>
        <p:spPr>
          <a:xfrm>
            <a:off x="1691640" y="2240280"/>
            <a:ext cx="5577840" cy="41148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anywhere on a Windows PC</a:t>
            </a:r>
            <a:endParaRPr lang="en-US" sz="1600" dirty="0"/>
          </a:p>
        </p:txBody>
      </p:sp>
      <p:sp>
        <p:nvSpPr>
          <p:cNvPr id="9" name="Shape 6"/>
          <p:cNvSpPr/>
          <p:nvPr/>
        </p:nvSpPr>
        <p:spPr>
          <a:xfrm>
            <a:off x="1115568" y="2807208"/>
            <a:ext cx="0" cy="192024"/>
          </a:xfrm>
          <a:prstGeom prst="line">
            <a:avLst/>
          </a:prstGeom>
          <a:noFill/>
          <a:ln w="22225">
            <a:solidFill>
              <a:srgbClr val="4A5B69"/>
            </a:solidFill>
            <a:prstDash val="solid"/>
            <a:tailEnd type="triangle"/>
          </a:ln>
        </p:spPr>
      </p:sp>
      <p:sp>
        <p:nvSpPr>
          <p:cNvPr id="10" name="Shape 7"/>
          <p:cNvSpPr/>
          <p:nvPr/>
        </p:nvSpPr>
        <p:spPr>
          <a:xfrm>
            <a:off x="548640" y="3017520"/>
            <a:ext cx="6949440" cy="1234440"/>
          </a:xfrm>
          <a:prstGeom prst="roundRect">
            <a:avLst>
              <a:gd name="adj" fmla="val 8889"/>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777240" y="3291840"/>
            <a:ext cx="685800" cy="685800"/>
          </a:xfrm>
          <a:prstGeom prst="ellipse">
            <a:avLst/>
          </a:prstGeom>
          <a:solidFill>
            <a:srgbClr val="0D6B73"/>
          </a:solidFill>
          <a:ln w="12700">
            <a:solidFill>
              <a:srgbClr val="0D6B73"/>
            </a:solidFill>
            <a:prstDash val="solid"/>
          </a:ln>
        </p:spPr>
      </p:sp>
      <p:sp>
        <p:nvSpPr>
          <p:cNvPr id="12" name="Text 9"/>
          <p:cNvSpPr txBox="1"/>
          <p:nvPr/>
        </p:nvSpPr>
        <p:spPr>
          <a:xfrm>
            <a:off x="777240" y="3291840"/>
            <a:ext cx="685800" cy="68580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0"/>
          <p:cNvSpPr txBox="1"/>
          <p:nvPr/>
        </p:nvSpPr>
        <p:spPr>
          <a:xfrm>
            <a:off x="1691640" y="3182112"/>
            <a:ext cx="5577840" cy="502920"/>
          </a:xfrm>
          <a:prstGeom prst="rect">
            <a:avLst/>
          </a:prstGeom>
          <a:noFill/>
          <a:ln/>
        </p:spPr>
        <p:txBody>
          <a:bodyPr wrap="square" lIns="50800" tIns="50800" rIns="50800" bIns="50800" rtlCol="0" anchor="t"/>
          <a:lstStyle/>
          <a:p>
            <a:pPr algn="l" indent="0" marL="0">
              <a:buNone/>
            </a:pPr>
            <a:r>
              <a:rPr lang="en-US" sz="2200" b="1" dirty="0">
                <a:solidFill>
                  <a:srgbClr val="0F2530"/>
                </a:solidFill>
                <a:latin typeface="Cambria" pitchFamily="34" charset="0"/>
                <a:ea typeface="Cambria" pitchFamily="34" charset="-122"/>
                <a:cs typeface="Cambria" pitchFamily="34" charset="-120"/>
              </a:rPr>
              <a:t>Double-click START.bat</a:t>
            </a:r>
            <a:endParaRPr lang="en-US" sz="2200" dirty="0"/>
          </a:p>
        </p:txBody>
      </p:sp>
      <p:sp>
        <p:nvSpPr>
          <p:cNvPr id="14" name="Text 11"/>
          <p:cNvSpPr txBox="1"/>
          <p:nvPr/>
        </p:nvSpPr>
        <p:spPr>
          <a:xfrm>
            <a:off x="1691640" y="3703320"/>
            <a:ext cx="5577840" cy="41148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the bundled Python starts the server</a:t>
            </a:r>
            <a:endParaRPr lang="en-US" sz="1600" dirty="0"/>
          </a:p>
        </p:txBody>
      </p:sp>
      <p:sp>
        <p:nvSpPr>
          <p:cNvPr id="15" name="Shape 12"/>
          <p:cNvSpPr/>
          <p:nvPr/>
        </p:nvSpPr>
        <p:spPr>
          <a:xfrm>
            <a:off x="1115568" y="4270248"/>
            <a:ext cx="0" cy="192024"/>
          </a:xfrm>
          <a:prstGeom prst="line">
            <a:avLst/>
          </a:prstGeom>
          <a:noFill/>
          <a:ln w="22225">
            <a:solidFill>
              <a:srgbClr val="4A5B69"/>
            </a:solidFill>
            <a:prstDash val="solid"/>
            <a:tailEnd type="triangle"/>
          </a:ln>
        </p:spPr>
      </p:sp>
      <p:sp>
        <p:nvSpPr>
          <p:cNvPr id="16" name="Shape 13"/>
          <p:cNvSpPr/>
          <p:nvPr/>
        </p:nvSpPr>
        <p:spPr>
          <a:xfrm>
            <a:off x="548640" y="4480560"/>
            <a:ext cx="6949440" cy="1234440"/>
          </a:xfrm>
          <a:prstGeom prst="roundRect">
            <a:avLst>
              <a:gd name="adj" fmla="val 8889"/>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777240" y="4754880"/>
            <a:ext cx="685800" cy="685800"/>
          </a:xfrm>
          <a:prstGeom prst="ellipse">
            <a:avLst/>
          </a:prstGeom>
          <a:solidFill>
            <a:srgbClr val="0D6B73"/>
          </a:solidFill>
          <a:ln w="12700">
            <a:solidFill>
              <a:srgbClr val="0D6B73"/>
            </a:solidFill>
            <a:prstDash val="solid"/>
          </a:ln>
        </p:spPr>
      </p:sp>
      <p:sp>
        <p:nvSpPr>
          <p:cNvPr id="18" name="Text 15"/>
          <p:cNvSpPr txBox="1"/>
          <p:nvPr/>
        </p:nvSpPr>
        <p:spPr>
          <a:xfrm>
            <a:off x="777240" y="4754880"/>
            <a:ext cx="685800" cy="685800"/>
          </a:xfrm>
          <a:prstGeom prst="rect">
            <a:avLst/>
          </a:prstGeom>
          <a:noFill/>
          <a:ln/>
        </p:spPr>
        <p:txBody>
          <a:bodyPr wrap="square" lIns="50800" tIns="50800" rIns="50800" bIns="508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6"/>
          <p:cNvSpPr txBox="1"/>
          <p:nvPr/>
        </p:nvSpPr>
        <p:spPr>
          <a:xfrm>
            <a:off x="1691640" y="4645152"/>
            <a:ext cx="5577840" cy="502920"/>
          </a:xfrm>
          <a:prstGeom prst="rect">
            <a:avLst/>
          </a:prstGeom>
          <a:noFill/>
          <a:ln/>
        </p:spPr>
        <p:txBody>
          <a:bodyPr wrap="square" lIns="50800" tIns="50800" rIns="50800" bIns="50800" rtlCol="0" anchor="t"/>
          <a:lstStyle/>
          <a:p>
            <a:pPr algn="l" indent="0" marL="0">
              <a:buNone/>
            </a:pPr>
            <a:r>
              <a:rPr lang="en-US" sz="2200" b="1" dirty="0">
                <a:solidFill>
                  <a:srgbClr val="0F2530"/>
                </a:solidFill>
                <a:latin typeface="Cambria" pitchFamily="34" charset="0"/>
                <a:ea typeface="Cambria" pitchFamily="34" charset="-122"/>
                <a:cs typeface="Cambria" pitchFamily="34" charset="-120"/>
              </a:rPr>
              <a:t>Use the app</a:t>
            </a:r>
            <a:endParaRPr lang="en-US" sz="2200" dirty="0"/>
          </a:p>
        </p:txBody>
      </p:sp>
      <p:sp>
        <p:nvSpPr>
          <p:cNvPr id="20" name="Text 17"/>
          <p:cNvSpPr txBox="1"/>
          <p:nvPr/>
        </p:nvSpPr>
        <p:spPr>
          <a:xfrm>
            <a:off x="1691640" y="5166360"/>
            <a:ext cx="5577840" cy="411480"/>
          </a:xfrm>
          <a:prstGeom prst="rect">
            <a:avLst/>
          </a:prstGeom>
          <a:noFill/>
          <a:ln/>
        </p:spPr>
        <p:txBody>
          <a:bodyPr wrap="square" lIns="50800" tIns="50800" rIns="50800" bIns="50800" rtlCol="0" anchor="t"/>
          <a:lstStyle/>
          <a:p>
            <a:pPr algn="l" indent="0" marL="0">
              <a:buNone/>
            </a:pPr>
            <a:r>
              <a:rPr lang="en-US" sz="1600" dirty="0">
                <a:solidFill>
                  <a:srgbClr val="4A5B69"/>
                </a:solidFill>
                <a:latin typeface="Calibri" pitchFamily="34" charset="0"/>
                <a:ea typeface="Calibri" pitchFamily="34" charset="-122"/>
                <a:cs typeface="Calibri" pitchFamily="34" charset="-120"/>
              </a:rPr>
              <a:t>your browser opens on its own</a:t>
            </a:r>
            <a:endParaRPr lang="en-US" sz="1600" dirty="0"/>
          </a:p>
        </p:txBody>
      </p:sp>
      <p:sp>
        <p:nvSpPr>
          <p:cNvPr id="21" name="Shape 18"/>
          <p:cNvSpPr/>
          <p:nvPr/>
        </p:nvSpPr>
        <p:spPr>
          <a:xfrm>
            <a:off x="7955280" y="1554480"/>
            <a:ext cx="3657600" cy="4160520"/>
          </a:xfrm>
          <a:prstGeom prst="roundRect">
            <a:avLst>
              <a:gd name="adj" fmla="val 3000"/>
            </a:avLst>
          </a:prstGeom>
          <a:solidFill>
            <a:srgbClr val="0F2530"/>
          </a:solidFill>
          <a:ln w="12700">
            <a:solidFill>
              <a:srgbClr val="0F2530"/>
            </a:solidFill>
            <a:prstDash val="solid"/>
          </a:ln>
        </p:spPr>
      </p:sp>
      <p:sp>
        <p:nvSpPr>
          <p:cNvPr id="22" name="Text 19"/>
          <p:cNvSpPr txBox="1"/>
          <p:nvPr/>
        </p:nvSpPr>
        <p:spPr>
          <a:xfrm>
            <a:off x="8138160" y="1920240"/>
            <a:ext cx="3291840" cy="1097280"/>
          </a:xfrm>
          <a:prstGeom prst="rect">
            <a:avLst/>
          </a:prstGeom>
          <a:noFill/>
          <a:ln/>
        </p:spPr>
        <p:txBody>
          <a:bodyPr wrap="square" lIns="50800" tIns="50800" rIns="50800" bIns="50800" rtlCol="0" anchor="ctr"/>
          <a:lstStyle/>
          <a:p>
            <a:pPr algn="ctr" indent="0" marL="0">
              <a:buNone/>
            </a:pPr>
            <a:r>
              <a:rPr lang="en-US" sz="6400" b="1" dirty="0">
                <a:solidFill>
                  <a:srgbClr val="FF7A52"/>
                </a:solidFill>
                <a:latin typeface="Cambria" pitchFamily="34" charset="0"/>
                <a:ea typeface="Cambria" pitchFamily="34" charset="-122"/>
                <a:cs typeface="Cambria" pitchFamily="34" charset="-120"/>
              </a:rPr>
              <a:t>28 MB</a:t>
            </a:r>
            <a:endParaRPr lang="en-US" sz="6400" dirty="0"/>
          </a:p>
        </p:txBody>
      </p:sp>
      <p:sp>
        <p:nvSpPr>
          <p:cNvPr id="23" name="Text 20"/>
          <p:cNvSpPr txBox="1"/>
          <p:nvPr/>
        </p:nvSpPr>
        <p:spPr>
          <a:xfrm>
            <a:off x="8229600" y="3200400"/>
            <a:ext cx="3108960" cy="1371600"/>
          </a:xfrm>
          <a:prstGeom prst="rect">
            <a:avLst/>
          </a:prstGeom>
          <a:noFill/>
          <a:ln/>
        </p:spPr>
        <p:txBody>
          <a:bodyPr wrap="square" lIns="50800" tIns="50800" rIns="50800" bIns="50800" rtlCol="0" anchor="t"/>
          <a:lstStyle/>
          <a:p>
            <a:pPr algn="ctr" indent="0" marL="0">
              <a:buNone/>
            </a:pPr>
            <a:r>
              <a:rPr lang="en-US" sz="1600" dirty="0">
                <a:solidFill>
                  <a:srgbClr val="C9DBE4"/>
                </a:solidFill>
                <a:latin typeface="Calibri" pitchFamily="34" charset="0"/>
                <a:ea typeface="Calibri" pitchFamily="34" charset="-122"/>
                <a:cs typeface="Calibri" pitchFamily="34" charset="-120"/>
              </a:rPr>
              <a:t>Python + every library inside. Nothing to install and no internet needed to start.</a:t>
            </a:r>
            <a:endParaRPr lang="en-US" sz="1600" dirty="0"/>
          </a:p>
        </p:txBody>
      </p:sp>
      <p:sp>
        <p:nvSpPr>
          <p:cNvPr id="24" name="Text 21"/>
          <p:cNvSpPr txBox="1"/>
          <p:nvPr/>
        </p:nvSpPr>
        <p:spPr>
          <a:xfrm>
            <a:off x="8229600" y="4937760"/>
            <a:ext cx="3108960" cy="457200"/>
          </a:xfrm>
          <a:prstGeom prst="rect">
            <a:avLst/>
          </a:prstGeom>
          <a:noFill/>
          <a:ln/>
        </p:spPr>
        <p:txBody>
          <a:bodyPr wrap="square" lIns="50800" tIns="50800" rIns="50800" bIns="5080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Windows 64-bit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Tested at five levels</a:t>
            </a:r>
            <a:endParaRPr lang="en-US" sz="3400" dirty="0"/>
          </a:p>
        </p:txBody>
      </p:sp>
      <p:sp>
        <p:nvSpPr>
          <p:cNvPr id="4" name="Shape 1"/>
          <p:cNvSpPr/>
          <p:nvPr/>
        </p:nvSpPr>
        <p:spPr>
          <a:xfrm>
            <a:off x="457200" y="1508760"/>
            <a:ext cx="2651760" cy="1920240"/>
          </a:xfrm>
          <a:prstGeom prst="roundRect">
            <a:avLst>
              <a:gd name="adj" fmla="val 5714"/>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457200" y="1645920"/>
            <a:ext cx="2651760" cy="1005840"/>
          </a:xfrm>
          <a:prstGeom prst="rect">
            <a:avLst/>
          </a:prstGeom>
          <a:noFill/>
          <a:ln/>
        </p:spPr>
        <p:txBody>
          <a:bodyPr wrap="square" lIns="50800" tIns="50800" rIns="50800" bIns="50800" rtlCol="0" anchor="ctr"/>
          <a:lstStyle/>
          <a:p>
            <a:pPr algn="ctr" indent="0" marL="0">
              <a:buNone/>
            </a:pPr>
            <a:r>
              <a:rPr lang="en-US" sz="5400" b="1" dirty="0">
                <a:solidFill>
                  <a:srgbClr val="0D6B73"/>
                </a:solidFill>
                <a:latin typeface="Cambria" pitchFamily="34" charset="0"/>
                <a:ea typeface="Cambria" pitchFamily="34" charset="-122"/>
                <a:cs typeface="Cambria" pitchFamily="34" charset="-120"/>
              </a:rPr>
              <a:t>14/14</a:t>
            </a:r>
            <a:endParaRPr lang="en-US" sz="5400" dirty="0"/>
          </a:p>
        </p:txBody>
      </p:sp>
      <p:sp>
        <p:nvSpPr>
          <p:cNvPr id="6" name="Text 3"/>
          <p:cNvSpPr txBox="1"/>
          <p:nvPr/>
        </p:nvSpPr>
        <p:spPr>
          <a:xfrm>
            <a:off x="457200" y="2697480"/>
            <a:ext cx="2651760" cy="457200"/>
          </a:xfrm>
          <a:prstGeom prst="rect">
            <a:avLst/>
          </a:prstGeom>
          <a:noFill/>
          <a:ln/>
        </p:spPr>
        <p:txBody>
          <a:bodyPr wrap="square" lIns="50800" tIns="50800" rIns="50800" bIns="50800" rtlCol="0" anchor="t"/>
          <a:lstStyle/>
          <a:p>
            <a:pPr algn="ctr" indent="0" marL="0">
              <a:buNone/>
            </a:pPr>
            <a:r>
              <a:rPr lang="en-US" sz="1800" dirty="0">
                <a:solidFill>
                  <a:srgbClr val="4A5B69"/>
                </a:solidFill>
                <a:latin typeface="Calibri" pitchFamily="34" charset="0"/>
                <a:ea typeface="Calibri" pitchFamily="34" charset="-122"/>
                <a:cs typeface="Calibri" pitchFamily="34" charset="-120"/>
              </a:rPr>
              <a:t>modules load</a:t>
            </a:r>
            <a:endParaRPr lang="en-US" sz="1800" dirty="0"/>
          </a:p>
        </p:txBody>
      </p:sp>
      <p:sp>
        <p:nvSpPr>
          <p:cNvPr id="7" name="Shape 4"/>
          <p:cNvSpPr/>
          <p:nvPr/>
        </p:nvSpPr>
        <p:spPr>
          <a:xfrm>
            <a:off x="3337560" y="1508760"/>
            <a:ext cx="2651760" cy="1920240"/>
          </a:xfrm>
          <a:prstGeom prst="roundRect">
            <a:avLst>
              <a:gd name="adj" fmla="val 5714"/>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3337560" y="1645920"/>
            <a:ext cx="2651760" cy="1005840"/>
          </a:xfrm>
          <a:prstGeom prst="rect">
            <a:avLst/>
          </a:prstGeom>
          <a:noFill/>
          <a:ln/>
        </p:spPr>
        <p:txBody>
          <a:bodyPr wrap="square" lIns="50800" tIns="50800" rIns="50800" bIns="50800" rtlCol="0" anchor="ctr"/>
          <a:lstStyle/>
          <a:p>
            <a:pPr algn="ctr" indent="0" marL="0">
              <a:buNone/>
            </a:pPr>
            <a:r>
              <a:rPr lang="en-US" sz="5400" b="1" dirty="0">
                <a:solidFill>
                  <a:srgbClr val="0D6B73"/>
                </a:solidFill>
                <a:latin typeface="Cambria" pitchFamily="34" charset="0"/>
                <a:ea typeface="Cambria" pitchFamily="34" charset="-122"/>
                <a:cs typeface="Cambria" pitchFamily="34" charset="-120"/>
              </a:rPr>
              <a:t>7/7</a:t>
            </a:r>
            <a:endParaRPr lang="en-US" sz="5400" dirty="0"/>
          </a:p>
        </p:txBody>
      </p:sp>
      <p:sp>
        <p:nvSpPr>
          <p:cNvPr id="9" name="Text 6"/>
          <p:cNvSpPr txBox="1"/>
          <p:nvPr/>
        </p:nvSpPr>
        <p:spPr>
          <a:xfrm>
            <a:off x="3337560" y="2697480"/>
            <a:ext cx="2651760" cy="457200"/>
          </a:xfrm>
          <a:prstGeom prst="rect">
            <a:avLst/>
          </a:prstGeom>
          <a:noFill/>
          <a:ln/>
        </p:spPr>
        <p:txBody>
          <a:bodyPr wrap="square" lIns="50800" tIns="50800" rIns="50800" bIns="50800" rtlCol="0" anchor="t"/>
          <a:lstStyle/>
          <a:p>
            <a:pPr algn="ctr" indent="0" marL="0">
              <a:buNone/>
            </a:pPr>
            <a:r>
              <a:rPr lang="en-US" sz="1800" dirty="0">
                <a:solidFill>
                  <a:srgbClr val="4A5B69"/>
                </a:solidFill>
                <a:latin typeface="Calibri" pitchFamily="34" charset="0"/>
                <a:ea typeface="Calibri" pitchFamily="34" charset="-122"/>
                <a:cs typeface="Calibri" pitchFamily="34" charset="-120"/>
              </a:rPr>
              <a:t>checks passed</a:t>
            </a:r>
            <a:endParaRPr lang="en-US" sz="1800" dirty="0"/>
          </a:p>
        </p:txBody>
      </p:sp>
      <p:sp>
        <p:nvSpPr>
          <p:cNvPr id="10" name="Shape 7"/>
          <p:cNvSpPr/>
          <p:nvPr/>
        </p:nvSpPr>
        <p:spPr>
          <a:xfrm>
            <a:off x="6217920" y="1508760"/>
            <a:ext cx="2651760" cy="1920240"/>
          </a:xfrm>
          <a:prstGeom prst="roundRect">
            <a:avLst>
              <a:gd name="adj" fmla="val 5714"/>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217920" y="1645920"/>
            <a:ext cx="2651760" cy="1005840"/>
          </a:xfrm>
          <a:prstGeom prst="rect">
            <a:avLst/>
          </a:prstGeom>
          <a:noFill/>
          <a:ln/>
        </p:spPr>
        <p:txBody>
          <a:bodyPr wrap="square" lIns="50800" tIns="50800" rIns="50800" bIns="50800" rtlCol="0" anchor="ctr"/>
          <a:lstStyle/>
          <a:p>
            <a:pPr algn="ctr" indent="0" marL="0">
              <a:buNone/>
            </a:pPr>
            <a:r>
              <a:rPr lang="en-US" sz="5400" b="1" dirty="0">
                <a:solidFill>
                  <a:srgbClr val="0D6B73"/>
                </a:solidFill>
                <a:latin typeface="Cambria" pitchFamily="34" charset="0"/>
                <a:ea typeface="Cambria" pitchFamily="34" charset="-122"/>
                <a:cs typeface="Cambria" pitchFamily="34" charset="-120"/>
              </a:rPr>
              <a:t>5</a:t>
            </a:r>
            <a:endParaRPr lang="en-US" sz="5400" dirty="0"/>
          </a:p>
        </p:txBody>
      </p:sp>
      <p:sp>
        <p:nvSpPr>
          <p:cNvPr id="12" name="Text 9"/>
          <p:cNvSpPr txBox="1"/>
          <p:nvPr/>
        </p:nvSpPr>
        <p:spPr>
          <a:xfrm>
            <a:off x="6217920" y="2697480"/>
            <a:ext cx="2651760" cy="457200"/>
          </a:xfrm>
          <a:prstGeom prst="rect">
            <a:avLst/>
          </a:prstGeom>
          <a:noFill/>
          <a:ln/>
        </p:spPr>
        <p:txBody>
          <a:bodyPr wrap="square" lIns="50800" tIns="50800" rIns="50800" bIns="50800" rtlCol="0" anchor="t"/>
          <a:lstStyle/>
          <a:p>
            <a:pPr algn="ctr" indent="0" marL="0">
              <a:buNone/>
            </a:pPr>
            <a:r>
              <a:rPr lang="en-US" sz="1800" dirty="0">
                <a:solidFill>
                  <a:srgbClr val="4A5B69"/>
                </a:solidFill>
                <a:latin typeface="Calibri" pitchFamily="34" charset="0"/>
                <a:ea typeface="Calibri" pitchFamily="34" charset="-122"/>
                <a:cs typeface="Calibri" pitchFamily="34" charset="-120"/>
              </a:rPr>
              <a:t>levels of testing</a:t>
            </a:r>
            <a:endParaRPr lang="en-US" sz="1800" dirty="0"/>
          </a:p>
        </p:txBody>
      </p:sp>
      <p:sp>
        <p:nvSpPr>
          <p:cNvPr id="13" name="Shape 10"/>
          <p:cNvSpPr/>
          <p:nvPr/>
        </p:nvSpPr>
        <p:spPr>
          <a:xfrm>
            <a:off x="9098280" y="1508760"/>
            <a:ext cx="2651760" cy="1920240"/>
          </a:xfrm>
          <a:prstGeom prst="roundRect">
            <a:avLst>
              <a:gd name="adj" fmla="val 5714"/>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9098280" y="1645920"/>
            <a:ext cx="2651760" cy="1005840"/>
          </a:xfrm>
          <a:prstGeom prst="rect">
            <a:avLst/>
          </a:prstGeom>
          <a:noFill/>
          <a:ln/>
        </p:spPr>
        <p:txBody>
          <a:bodyPr wrap="square" lIns="50800" tIns="50800" rIns="50800" bIns="50800" rtlCol="0" anchor="ctr"/>
          <a:lstStyle/>
          <a:p>
            <a:pPr algn="ctr" indent="0" marL="0">
              <a:buNone/>
            </a:pPr>
            <a:r>
              <a:rPr lang="en-US" sz="5400" b="1" dirty="0">
                <a:solidFill>
                  <a:srgbClr val="C8401A"/>
                </a:solidFill>
                <a:latin typeface="Cambria" pitchFamily="34" charset="0"/>
                <a:ea typeface="Cambria" pitchFamily="34" charset="-122"/>
                <a:cs typeface="Cambria" pitchFamily="34" charset="-120"/>
              </a:rPr>
              <a:t>0</a:t>
            </a:r>
            <a:endParaRPr lang="en-US" sz="5400" dirty="0"/>
          </a:p>
        </p:txBody>
      </p:sp>
      <p:sp>
        <p:nvSpPr>
          <p:cNvPr id="15" name="Text 12"/>
          <p:cNvSpPr txBox="1"/>
          <p:nvPr/>
        </p:nvSpPr>
        <p:spPr>
          <a:xfrm>
            <a:off x="9098280" y="2697480"/>
            <a:ext cx="2651760" cy="457200"/>
          </a:xfrm>
          <a:prstGeom prst="rect">
            <a:avLst/>
          </a:prstGeom>
          <a:noFill/>
          <a:ln/>
        </p:spPr>
        <p:txBody>
          <a:bodyPr wrap="square" lIns="50800" tIns="50800" rIns="50800" bIns="50800" rtlCol="0" anchor="t"/>
          <a:lstStyle/>
          <a:p>
            <a:pPr algn="ctr" indent="0" marL="0">
              <a:buNone/>
            </a:pPr>
            <a:r>
              <a:rPr lang="en-US" sz="1800" dirty="0">
                <a:solidFill>
                  <a:srgbClr val="4A5B69"/>
                </a:solidFill>
                <a:latin typeface="Calibri" pitchFamily="34" charset="0"/>
                <a:ea typeface="Calibri" pitchFamily="34" charset="-122"/>
                <a:cs typeface="Calibri" pitchFamily="34" charset="-120"/>
              </a:rPr>
              <a:t>installs needed</a:t>
            </a:r>
            <a:endParaRPr lang="en-US" sz="1800" dirty="0"/>
          </a:p>
        </p:txBody>
      </p:sp>
      <p:sp>
        <p:nvSpPr>
          <p:cNvPr id="16" name="Shape 13"/>
          <p:cNvSpPr/>
          <p:nvPr/>
        </p:nvSpPr>
        <p:spPr>
          <a:xfrm>
            <a:off x="548640" y="3794760"/>
            <a:ext cx="5486400" cy="2377440"/>
          </a:xfrm>
          <a:prstGeom prst="roundRect">
            <a:avLst>
              <a:gd name="adj" fmla="val 4615"/>
            </a:avLst>
          </a:prstGeom>
          <a:solidFill>
            <a:srgbClr val="E3F1F2"/>
          </a:solidFill>
          <a:ln w="12700">
            <a:solidFill>
              <a:srgbClr val="0D6B73"/>
            </a:solidFill>
            <a:prstDash val="solid"/>
          </a:ln>
        </p:spPr>
      </p:sp>
      <p:sp>
        <p:nvSpPr>
          <p:cNvPr id="17" name="Text 14"/>
          <p:cNvSpPr txBox="1"/>
          <p:nvPr/>
        </p:nvSpPr>
        <p:spPr>
          <a:xfrm>
            <a:off x="777240" y="3886200"/>
            <a:ext cx="5029200" cy="457200"/>
          </a:xfrm>
          <a:prstGeom prst="rect">
            <a:avLst/>
          </a:prstGeom>
          <a:noFill/>
          <a:ln/>
        </p:spPr>
        <p:txBody>
          <a:bodyPr wrap="square" lIns="50800" tIns="50800" rIns="50800" bIns="50800" rtlCol="0" anchor="t"/>
          <a:lstStyle/>
          <a:p>
            <a:pPr algn="l" indent="0" marL="0">
              <a:buNone/>
            </a:pPr>
            <a:r>
              <a:rPr lang="en-US" sz="2000" b="1" dirty="0">
                <a:solidFill>
                  <a:srgbClr val="0D6B73"/>
                </a:solidFill>
                <a:latin typeface="Cambria" pitchFamily="34" charset="0"/>
                <a:ea typeface="Cambria" pitchFamily="34" charset="-122"/>
                <a:cs typeface="Cambria" pitchFamily="34" charset="-120"/>
              </a:rPr>
              <a:t>What we ran</a:t>
            </a:r>
            <a:endParaRPr lang="en-US" sz="2000" dirty="0"/>
          </a:p>
        </p:txBody>
      </p:sp>
      <p:sp>
        <p:nvSpPr>
          <p:cNvPr id="18" name="Text 15"/>
          <p:cNvSpPr txBox="1"/>
          <p:nvPr/>
        </p:nvSpPr>
        <p:spPr>
          <a:xfrm>
            <a:off x="777240" y="4389120"/>
            <a:ext cx="5029200" cy="1737360"/>
          </a:xfrm>
          <a:prstGeom prst="rect">
            <a:avLst/>
          </a:prstGeom>
          <a:noFill/>
          <a:ln/>
        </p:spPr>
        <p:txBody>
          <a:bodyPr wrap="square" lIns="50800" tIns="50800" rIns="50800" bIns="50800" rtlCol="0" anchor="t"/>
          <a:lstStyle/>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Full detection cycle, offline</a:t>
            </a:r>
            <a:endParaRPr lang="en-US" sz="1500" dirty="0"/>
          </a:p>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Every web address answered</a:t>
            </a:r>
            <a:endParaRPr lang="en-US" sz="1500" dirty="0"/>
          </a:p>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Wind 120 km/h → storm, sea 300 cm → tsunami</a:t>
            </a:r>
            <a:endParaRPr lang="en-US" sz="1500" dirty="0"/>
          </a:p>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Zip run from a clean folder</a:t>
            </a:r>
            <a:endParaRPr lang="en-US" sz="1500" dirty="0"/>
          </a:p>
        </p:txBody>
      </p:sp>
      <p:sp>
        <p:nvSpPr>
          <p:cNvPr id="19" name="Shape 16"/>
          <p:cNvSpPr/>
          <p:nvPr/>
        </p:nvSpPr>
        <p:spPr>
          <a:xfrm>
            <a:off x="6217920" y="3794760"/>
            <a:ext cx="5394960" cy="2377440"/>
          </a:xfrm>
          <a:prstGeom prst="roundRect">
            <a:avLst>
              <a:gd name="adj" fmla="val 4615"/>
            </a:avLst>
          </a:prstGeom>
          <a:solidFill>
            <a:srgbClr val="FBE9E2"/>
          </a:solidFill>
          <a:ln w="12700">
            <a:solidFill>
              <a:srgbClr val="C8401A"/>
            </a:solidFill>
            <a:prstDash val="solid"/>
          </a:ln>
        </p:spPr>
      </p:sp>
      <p:sp>
        <p:nvSpPr>
          <p:cNvPr id="20" name="Text 17"/>
          <p:cNvSpPr txBox="1"/>
          <p:nvPr/>
        </p:nvSpPr>
        <p:spPr>
          <a:xfrm>
            <a:off x="6446520" y="3886200"/>
            <a:ext cx="4937760" cy="457200"/>
          </a:xfrm>
          <a:prstGeom prst="rect">
            <a:avLst/>
          </a:prstGeom>
          <a:noFill/>
          <a:ln/>
        </p:spPr>
        <p:txBody>
          <a:bodyPr wrap="square" lIns="50800" tIns="50800" rIns="50800" bIns="50800" rtlCol="0" anchor="t"/>
          <a:lstStyle/>
          <a:p>
            <a:pPr algn="l" indent="0" marL="0">
              <a:buNone/>
            </a:pPr>
            <a:r>
              <a:rPr lang="en-US" sz="2000" b="1" dirty="0">
                <a:solidFill>
                  <a:srgbClr val="C8401A"/>
                </a:solidFill>
                <a:latin typeface="Cambria" pitchFamily="34" charset="0"/>
                <a:ea typeface="Cambria" pitchFamily="34" charset="-122"/>
                <a:cs typeface="Cambria" pitchFamily="34" charset="-120"/>
              </a:rPr>
              <a:t>Bugs found and fixed</a:t>
            </a:r>
            <a:endParaRPr lang="en-US" sz="2000" dirty="0"/>
          </a:p>
        </p:txBody>
      </p:sp>
      <p:sp>
        <p:nvSpPr>
          <p:cNvPr id="21" name="Text 18"/>
          <p:cNvSpPr txBox="1"/>
          <p:nvPr/>
        </p:nvSpPr>
        <p:spPr>
          <a:xfrm>
            <a:off x="6446520" y="4389120"/>
            <a:ext cx="4937760" cy="1737360"/>
          </a:xfrm>
          <a:prstGeom prst="rect">
            <a:avLst/>
          </a:prstGeom>
          <a:noFill/>
          <a:ln/>
        </p:spPr>
        <p:txBody>
          <a:bodyPr wrap="square" lIns="50800" tIns="50800" rIns="50800" bIns="50800" rtlCol="0" anchor="t"/>
          <a:lstStyle/>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Server still ran old code: restarted</a:t>
            </a:r>
            <a:endParaRPr lang="en-US" sz="1500" dirty="0"/>
          </a:p>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Manual test ignored wind and sea level: fields added</a:t>
            </a:r>
            <a:endParaRPr lang="en-US" sz="1500" dirty="0"/>
          </a:p>
          <a:p>
            <a:pPr algn="l" marL="342900" indent="-342900">
              <a:spcAft>
                <a:spcPts val="300"/>
              </a:spcAft>
              <a:buSzPct val="100000"/>
              <a:buChar char="•"/>
            </a:pPr>
            <a:r>
              <a:rPr lang="en-US" sz="1500" dirty="0">
                <a:solidFill>
                  <a:srgbClr val="0F2530"/>
                </a:solidFill>
                <a:latin typeface="Calibri" pitchFamily="34" charset="0"/>
                <a:ea typeface="Calibri" pitchFamily="34" charset="-122"/>
                <a:cs typeface="Calibri" pitchFamily="34" charset="-120"/>
              </a:rPr>
              <a:t>Libraries missing on a fresh Python: bundled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A"/>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50800" tIns="50800" rIns="50800" bIns="50800" rtlCol="0" anchor="ctr"/>
          <a:lstStyle/>
          <a:p>
            <a:pPr algn="l" indent="0" marL="0">
              <a:buNone/>
            </a:pPr>
            <a:r>
              <a:rPr lang="en-US" sz="3400" b="1" dirty="0">
                <a:solidFill>
                  <a:srgbClr val="0F2530"/>
                </a:solidFill>
                <a:latin typeface="Cambria" pitchFamily="34" charset="0"/>
                <a:ea typeface="Cambria" pitchFamily="34" charset="-122"/>
                <a:cs typeface="Cambria" pitchFamily="34" charset="-120"/>
              </a:rPr>
              <a:t>Honest limits, and what comes next</a:t>
            </a:r>
            <a:endParaRPr lang="en-US" sz="3400" dirty="0"/>
          </a:p>
        </p:txBody>
      </p:sp>
      <p:sp>
        <p:nvSpPr>
          <p:cNvPr id="4" name="Shape 1"/>
          <p:cNvSpPr/>
          <p:nvPr/>
        </p:nvSpPr>
        <p:spPr>
          <a:xfrm>
            <a:off x="548640" y="1508760"/>
            <a:ext cx="5394960" cy="4480560"/>
          </a:xfrm>
          <a:prstGeom prst="roundRect">
            <a:avLst>
              <a:gd name="adj" fmla="val 2449"/>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822960" y="1783080"/>
            <a:ext cx="548640" cy="548640"/>
          </a:xfrm>
          <a:prstGeom prst="ellipse">
            <a:avLst/>
          </a:prstGeom>
          <a:solidFill>
            <a:srgbClr val="C8401A"/>
          </a:solidFill>
          <a:ln w="12700">
            <a:solidFill>
              <a:srgbClr val="C8401A"/>
            </a:solidFill>
            <a:prstDash val="solid"/>
          </a:ln>
        </p:spPr>
      </p:sp>
      <p:sp>
        <p:nvSpPr>
          <p:cNvPr id="6" name="Text 3"/>
          <p:cNvSpPr txBox="1"/>
          <p:nvPr/>
        </p:nvSpPr>
        <p:spPr>
          <a:xfrm>
            <a:off x="822960" y="1783080"/>
            <a:ext cx="548640" cy="5486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4"/>
          <p:cNvSpPr txBox="1"/>
          <p:nvPr/>
        </p:nvSpPr>
        <p:spPr>
          <a:xfrm>
            <a:off x="1554480" y="1783080"/>
            <a:ext cx="4206240" cy="548640"/>
          </a:xfrm>
          <a:prstGeom prst="rect">
            <a:avLst/>
          </a:prstGeom>
          <a:noFill/>
          <a:ln/>
        </p:spPr>
        <p:txBody>
          <a:bodyPr wrap="square" lIns="50800" tIns="50800" rIns="50800" bIns="50800" rtlCol="0" anchor="ctr"/>
          <a:lstStyle/>
          <a:p>
            <a:pPr algn="l" indent="0" marL="0">
              <a:buNone/>
            </a:pPr>
            <a:r>
              <a:rPr lang="en-US" sz="2400" b="1" dirty="0">
                <a:solidFill>
                  <a:srgbClr val="0F2530"/>
                </a:solidFill>
                <a:latin typeface="Cambria" pitchFamily="34" charset="0"/>
                <a:ea typeface="Cambria" pitchFamily="34" charset="-122"/>
                <a:cs typeface="Cambria" pitchFamily="34" charset="-120"/>
              </a:rPr>
              <a:t>Limits today</a:t>
            </a:r>
            <a:endParaRPr lang="en-US" sz="2400" dirty="0"/>
          </a:p>
        </p:txBody>
      </p:sp>
      <p:sp>
        <p:nvSpPr>
          <p:cNvPr id="8" name="Text 5"/>
          <p:cNvSpPr txBox="1"/>
          <p:nvPr/>
        </p:nvSpPr>
        <p:spPr>
          <a:xfrm>
            <a:off x="868680" y="2606040"/>
            <a:ext cx="4846320" cy="3200400"/>
          </a:xfrm>
          <a:prstGeom prst="rect">
            <a:avLst/>
          </a:prstGeom>
          <a:noFill/>
          <a:ln/>
        </p:spPr>
        <p:txBody>
          <a:bodyPr wrap="square" lIns="50800" tIns="50800" rIns="50800" bIns="50800" rtlCol="0" anchor="t"/>
          <a:lstStyle/>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Sensors are simulated</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SMS and buzzer only print to a log</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No login on the server</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Fixed limits need tuning per place</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Not an official warning service</a:t>
            </a:r>
            <a:endParaRPr lang="en-US" sz="1800" dirty="0"/>
          </a:p>
        </p:txBody>
      </p:sp>
      <p:sp>
        <p:nvSpPr>
          <p:cNvPr id="9" name="Shape 6"/>
          <p:cNvSpPr/>
          <p:nvPr/>
        </p:nvSpPr>
        <p:spPr>
          <a:xfrm>
            <a:off x="6217920" y="1508760"/>
            <a:ext cx="5394960" cy="4480560"/>
          </a:xfrm>
          <a:prstGeom prst="roundRect">
            <a:avLst>
              <a:gd name="adj" fmla="val 2449"/>
            </a:avLst>
          </a:prstGeom>
          <a:solidFill>
            <a:srgbClr val="FFFFFF"/>
          </a:solidFill>
          <a:ln w="12700">
            <a:solidFill>
              <a:srgbClr val="CFD8E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492240" y="1783080"/>
            <a:ext cx="548640" cy="548640"/>
          </a:xfrm>
          <a:prstGeom prst="ellipse">
            <a:avLst/>
          </a:prstGeom>
          <a:solidFill>
            <a:srgbClr val="0D6B73"/>
          </a:solidFill>
          <a:ln w="12700">
            <a:solidFill>
              <a:srgbClr val="0D6B73"/>
            </a:solidFill>
            <a:prstDash val="solid"/>
          </a:ln>
        </p:spPr>
      </p:sp>
      <p:sp>
        <p:nvSpPr>
          <p:cNvPr id="11" name="Text 8"/>
          <p:cNvSpPr txBox="1"/>
          <p:nvPr/>
        </p:nvSpPr>
        <p:spPr>
          <a:xfrm>
            <a:off x="6492240" y="1783080"/>
            <a:ext cx="548640" cy="548640"/>
          </a:xfrm>
          <a:prstGeom prst="rect">
            <a:avLst/>
          </a:prstGeom>
          <a:noFill/>
          <a:ln/>
        </p:spPr>
        <p:txBody>
          <a:bodyPr wrap="square" lIns="50800" tIns="50800" rIns="50800" bIns="5080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9"/>
          <p:cNvSpPr txBox="1"/>
          <p:nvPr/>
        </p:nvSpPr>
        <p:spPr>
          <a:xfrm>
            <a:off x="7223760" y="1783080"/>
            <a:ext cx="4206240" cy="548640"/>
          </a:xfrm>
          <a:prstGeom prst="rect">
            <a:avLst/>
          </a:prstGeom>
          <a:noFill/>
          <a:ln/>
        </p:spPr>
        <p:txBody>
          <a:bodyPr wrap="square" lIns="50800" tIns="50800" rIns="50800" bIns="50800" rtlCol="0" anchor="ctr"/>
          <a:lstStyle/>
          <a:p>
            <a:pPr algn="l" indent="0" marL="0">
              <a:buNone/>
            </a:pPr>
            <a:r>
              <a:rPr lang="en-US" sz="2400" b="1" dirty="0">
                <a:solidFill>
                  <a:srgbClr val="0F2530"/>
                </a:solidFill>
                <a:latin typeface="Cambria" pitchFamily="34" charset="0"/>
                <a:ea typeface="Cambria" pitchFamily="34" charset="-122"/>
                <a:cs typeface="Cambria" pitchFamily="34" charset="-120"/>
              </a:rPr>
              <a:t>Next steps</a:t>
            </a:r>
            <a:endParaRPr lang="en-US" sz="2400" dirty="0"/>
          </a:p>
        </p:txBody>
      </p:sp>
      <p:sp>
        <p:nvSpPr>
          <p:cNvPr id="13" name="Text 10"/>
          <p:cNvSpPr txBox="1"/>
          <p:nvPr/>
        </p:nvSpPr>
        <p:spPr>
          <a:xfrm>
            <a:off x="6537960" y="2606040"/>
            <a:ext cx="4846320" cy="3200400"/>
          </a:xfrm>
          <a:prstGeom prst="rect">
            <a:avLst/>
          </a:prstGeom>
          <a:noFill/>
          <a:ln/>
        </p:spPr>
        <p:txBody>
          <a:bodyPr wrap="square" lIns="50800" tIns="50800" rIns="50800" bIns="50800" rtlCol="0" anchor="t"/>
          <a:lstStyle/>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Real sensors + a SIM800L SMS module</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A real upload in the sync step</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Push alerts when the app is closed</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Several stations agree before alerting</a:t>
            </a:r>
            <a:endParaRPr lang="en-US" sz="1800" dirty="0"/>
          </a:p>
          <a:p>
            <a:pPr algn="l" marL="342900" indent="-342900">
              <a:spcAft>
                <a:spcPts val="600"/>
              </a:spcAft>
              <a:buSzPct val="100000"/>
              <a:buChar char="•"/>
            </a:pPr>
            <a:r>
              <a:rPr lang="en-US" sz="1800" dirty="0">
                <a:solidFill>
                  <a:srgbClr val="0F2530"/>
                </a:solidFill>
                <a:latin typeface="Calibri" pitchFamily="34" charset="0"/>
                <a:ea typeface="Calibri" pitchFamily="34" charset="-122"/>
                <a:cs typeface="Calibri" pitchFamily="34" charset="-120"/>
              </a:rPr>
              <a:t>Use the pressure reading for storms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530"/>
        </a:solidFill>
      </p:bgPr>
    </p:bg>
    <p:spTree>
      <p:nvGrpSpPr>
        <p:cNvPr id="1" name=""/>
        <p:cNvGrpSpPr/>
        <p:nvPr/>
      </p:nvGrpSpPr>
      <p:grpSpPr>
        <a:xfrm>
          <a:off x="0" y="0"/>
          <a:ext cx="0" cy="0"/>
          <a:chOff x="0" y="0"/>
          <a:chExt cx="0" cy="0"/>
        </a:xfrm>
      </p:grpSpPr>
      <p:sp>
        <p:nvSpPr>
          <p:cNvPr id="3" name="Shape 0"/>
          <p:cNvSpPr/>
          <p:nvPr/>
        </p:nvSpPr>
        <p:spPr>
          <a:xfrm>
            <a:off x="9052560" y="2788920"/>
            <a:ext cx="1280160" cy="1280160"/>
          </a:xfrm>
          <a:prstGeom prst="ellipse">
            <a:avLst/>
          </a:prstGeom>
          <a:solidFill>
            <a:srgbClr val="0F2530">
              <a:alpha val="0"/>
            </a:srgbClr>
          </a:solidFill>
          <a:ln w="19050">
            <a:solidFill>
              <a:srgbClr val="4FC1C9">
                <a:alpha val="70000"/>
              </a:srgbClr>
            </a:solidFill>
            <a:prstDash val="solid"/>
          </a:ln>
        </p:spPr>
      </p:sp>
      <p:sp>
        <p:nvSpPr>
          <p:cNvPr id="4" name="Shape 1"/>
          <p:cNvSpPr/>
          <p:nvPr/>
        </p:nvSpPr>
        <p:spPr>
          <a:xfrm>
            <a:off x="8503920" y="2240280"/>
            <a:ext cx="2377440" cy="2377440"/>
          </a:xfrm>
          <a:prstGeom prst="ellipse">
            <a:avLst/>
          </a:prstGeom>
          <a:solidFill>
            <a:srgbClr val="0F2530">
              <a:alpha val="0"/>
            </a:srgbClr>
          </a:solidFill>
          <a:ln w="19050">
            <a:solidFill>
              <a:srgbClr val="4FC1C9">
                <a:alpha val="50000"/>
              </a:srgbClr>
            </a:solidFill>
            <a:prstDash val="solid"/>
          </a:ln>
        </p:spPr>
      </p:sp>
      <p:sp>
        <p:nvSpPr>
          <p:cNvPr id="5" name="Shape 2"/>
          <p:cNvSpPr/>
          <p:nvPr/>
        </p:nvSpPr>
        <p:spPr>
          <a:xfrm>
            <a:off x="7955280" y="1691640"/>
            <a:ext cx="3474720" cy="3474720"/>
          </a:xfrm>
          <a:prstGeom prst="ellipse">
            <a:avLst/>
          </a:prstGeom>
          <a:solidFill>
            <a:srgbClr val="0F2530">
              <a:alpha val="0"/>
            </a:srgbClr>
          </a:solidFill>
          <a:ln w="19050">
            <a:solidFill>
              <a:srgbClr val="4FC1C9">
                <a:alpha val="32000"/>
              </a:srgbClr>
            </a:solidFill>
            <a:prstDash val="solid"/>
          </a:ln>
        </p:spPr>
      </p:sp>
      <p:sp>
        <p:nvSpPr>
          <p:cNvPr id="6" name="Shape 3"/>
          <p:cNvSpPr/>
          <p:nvPr/>
        </p:nvSpPr>
        <p:spPr>
          <a:xfrm>
            <a:off x="7406640" y="1143000"/>
            <a:ext cx="4572000" cy="4572000"/>
          </a:xfrm>
          <a:prstGeom prst="ellipse">
            <a:avLst/>
          </a:prstGeom>
          <a:solidFill>
            <a:srgbClr val="0F2530">
              <a:alpha val="0"/>
            </a:srgbClr>
          </a:solidFill>
          <a:ln w="19050">
            <a:solidFill>
              <a:srgbClr val="4FC1C9">
                <a:alpha val="15000"/>
              </a:srgbClr>
            </a:solidFill>
            <a:prstDash val="solid"/>
          </a:ln>
        </p:spPr>
      </p:sp>
      <p:sp>
        <p:nvSpPr>
          <p:cNvPr id="7" name="Shape 4"/>
          <p:cNvSpPr/>
          <p:nvPr/>
        </p:nvSpPr>
        <p:spPr>
          <a:xfrm>
            <a:off x="9546336" y="3282696"/>
            <a:ext cx="292608" cy="292608"/>
          </a:xfrm>
          <a:prstGeom prst="ellipse">
            <a:avLst/>
          </a:prstGeom>
          <a:solidFill>
            <a:srgbClr val="FF7A52"/>
          </a:solidFill>
          <a:ln w="12700">
            <a:solidFill>
              <a:srgbClr val="FF7A52"/>
            </a:solidFill>
            <a:prstDash val="solid"/>
          </a:ln>
        </p:spPr>
      </p:sp>
      <p:sp>
        <p:nvSpPr>
          <p:cNvPr id="8" name="Text 5"/>
          <p:cNvSpPr txBox="1"/>
          <p:nvPr/>
        </p:nvSpPr>
        <p:spPr>
          <a:xfrm>
            <a:off x="640080" y="1280160"/>
            <a:ext cx="5486400" cy="457200"/>
          </a:xfrm>
          <a:prstGeom prst="rect">
            <a:avLst/>
          </a:prstGeom>
          <a:noFill/>
          <a:ln/>
        </p:spPr>
        <p:txBody>
          <a:bodyPr wrap="square" lIns="50800" tIns="50800" rIns="50800" bIns="50800" rtlCol="0" anchor="t"/>
          <a:lstStyle/>
          <a:p>
            <a:pPr algn="l" indent="0" marL="0">
              <a:buNone/>
            </a:pPr>
            <a:r>
              <a:rPr lang="en-US" sz="1600" b="1" spc="400" kern="0" dirty="0">
                <a:solidFill>
                  <a:srgbClr val="FF7A52"/>
                </a:solidFill>
                <a:latin typeface="Calibri" pitchFamily="34" charset="0"/>
                <a:ea typeface="Calibri" pitchFamily="34" charset="-122"/>
                <a:cs typeface="Calibri" pitchFamily="34" charset="-120"/>
              </a:rPr>
              <a:t>In short</a:t>
            </a:r>
            <a:endParaRPr lang="en-US" sz="1600" dirty="0"/>
          </a:p>
        </p:txBody>
      </p:sp>
      <p:sp>
        <p:nvSpPr>
          <p:cNvPr id="9" name="Text 6"/>
          <p:cNvSpPr txBox="1"/>
          <p:nvPr/>
        </p:nvSpPr>
        <p:spPr>
          <a:xfrm>
            <a:off x="640080" y="1828800"/>
            <a:ext cx="6949440" cy="2377440"/>
          </a:xfrm>
          <a:prstGeom prst="rect">
            <a:avLst/>
          </a:prstGeom>
          <a:noFill/>
          <a:ln/>
        </p:spPr>
        <p:txBody>
          <a:bodyPr wrap="square" lIns="50800" tIns="50800" rIns="50800" bIns="5080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Simple rules.</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Local first.</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Every alert explains itself.</a:t>
            </a:r>
            <a:endParaRPr lang="en-US" sz="4000" dirty="0"/>
          </a:p>
        </p:txBody>
      </p:sp>
      <p:sp>
        <p:nvSpPr>
          <p:cNvPr id="10" name="Text 7"/>
          <p:cNvSpPr txBox="1"/>
          <p:nvPr/>
        </p:nvSpPr>
        <p:spPr>
          <a:xfrm>
            <a:off x="640080" y="4754880"/>
            <a:ext cx="6400800" cy="640080"/>
          </a:xfrm>
          <a:prstGeom prst="rect">
            <a:avLst/>
          </a:prstGeom>
          <a:noFill/>
          <a:ln/>
        </p:spPr>
        <p:txBody>
          <a:bodyPr wrap="square" lIns="50800" tIns="50800" rIns="50800" bIns="50800" rtlCol="0" anchor="t"/>
          <a:lstStyle/>
          <a:p>
            <a:pPr algn="l" indent="0" marL="0">
              <a:buNone/>
            </a:pPr>
            <a:r>
              <a:rPr lang="en-US" sz="2600" dirty="0">
                <a:solidFill>
                  <a:srgbClr val="C9DBE4"/>
                </a:solidFill>
                <a:latin typeface="Calibri" pitchFamily="34" charset="0"/>
                <a:ea typeface="Calibri" pitchFamily="34" charset="-122"/>
                <a:cs typeface="Calibri" pitchFamily="34" charset="-120"/>
              </a:rPr>
              <a:t>Thank you. Questions?</a:t>
            </a:r>
            <a:endParaRPr lang="en-US" sz="2600" dirty="0"/>
          </a:p>
        </p:txBody>
      </p:sp>
      <p:sp>
        <p:nvSpPr>
          <p:cNvPr id="11" name="Text 8"/>
          <p:cNvSpPr txBox="1"/>
          <p:nvPr/>
        </p:nvSpPr>
        <p:spPr>
          <a:xfrm>
            <a:off x="640080" y="6035040"/>
            <a:ext cx="7315200" cy="365760"/>
          </a:xfrm>
          <a:prstGeom prst="rect">
            <a:avLst/>
          </a:prstGeom>
          <a:noFill/>
          <a:ln/>
        </p:spPr>
        <p:txBody>
          <a:bodyPr wrap="square" lIns="50800" tIns="50800" rIns="50800" bIns="50800" rtlCol="0" anchor="t"/>
          <a:lstStyle/>
          <a:p>
            <a:pPr algn="l" indent="0" marL="0">
              <a:buNone/>
            </a:pPr>
            <a:r>
              <a:rPr lang="en-US" sz="1300" dirty="0">
                <a:solidFill>
                  <a:srgbClr val="AAC2CF"/>
                </a:solidFill>
                <a:latin typeface="Calibri" pitchFamily="34" charset="0"/>
                <a:ea typeface="Calibri" pitchFamily="34" charset="-122"/>
                <a:cs typeface="Calibri" pitchFamily="34" charset="-120"/>
              </a:rPr>
              <a:t>This is a learning project, not an official warning service.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Connect</dc:title>
  <dc:subject>PptxGenJS Presentation</dc:subject>
  <dc:creator/>
  <cp:lastModifiedBy/>
  <cp:revision>1</cp:revision>
  <dcterms:created xsi:type="dcterms:W3CDTF">2026-09-21T06:24:16Z</dcterms:created>
  <dcterms:modified xsi:type="dcterms:W3CDTF">2026-09-21T06:24:16Z</dcterms:modified>
</cp:coreProperties>
</file>